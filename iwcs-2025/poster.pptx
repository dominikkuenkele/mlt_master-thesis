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5"/>
  </p:notesMasterIdLst>
  <p:sldIdLst>
    <p:sldId id="256" r:id="rId4"/>
  </p:sldIdLst>
  <p:sldSz cx="30273625" cy="42800588"/>
  <p:notesSz cx="6858000" cy="9144000"/>
  <p:defaultTextStyle>
    <a:def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7E9639D4-E3E2-4D34-9284-5A2195B3D0D7}">
  <a:tblStyle styleId="{7E9639D4-E3E2-4D34-9284-5A2195B3D0D7}" styleName="Light Style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>
          <a:top>
            <a:ln w="12700">
              <a:solidFill>
                <a:schemeClr val="dk1"/>
              </a:solidFill>
            </a:ln>
          </a:top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</a:tcBdr>
      </a:tcStyle>
    </a:band1V>
    <a:band2V>
      <a:tcStyle>
        <a:tcBdr>
          <a:left>
            <a:ln w="12700">
              <a:solidFill>
                <a:schemeClr val="dk1"/>
              </a:solidFill>
            </a:ln>
          </a:left>
          <a:right>
            <a:ln w="12700">
              <a:solidFill>
                <a:schemeClr val="dk1"/>
              </a:solidFill>
            </a:ln>
          </a:right>
        </a:tcBdr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12700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30" d="100"/>
          <a:sy n="30" d="100"/>
        </p:scale>
        <p:origin x="1896" y="-1152"/>
      </p:cViewPr>
      <p:guideLst>
        <p:guide pos="9535"/>
        <p:guide pos="13480" orient="horz"/>
        <p:guide pos="6626"/>
        <p:guide pos="12434"/>
        <p:guide pos="794"/>
        <p:guide pos="1829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5" accent4="accent4" accent5="accent5" accent6="accent6" hlink="hlink" folHlink="folHlink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221484" name="Notizenplatzhalter 1494624699"/>
          <p:cNvSpPr txBox="1">
            <a:spLocks noGrp="1"/>
          </p:cNvSpPr>
          <p:nvPr>
            <p:ph type="body" idx="4294967295"/>
          </p:nvPr>
        </p:nvSpPr>
        <p:spPr bwMode="auto">
          <a:xfrm>
            <a:off x="755951" y="5078200"/>
            <a:ext cx="6047259" cy="4810736"/>
          </a:xfrm>
          <a:prstGeom prst="rect">
            <a:avLst/>
          </a:prstGeom>
          <a:noFill/>
          <a:ln>
            <a:noFill/>
          </a:ln>
          <a:effectLst/>
        </p:spPr>
        <p:txBody>
          <a:bodyPr anchor="t">
            <a:sp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Stand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291446" name="place_holder"/>
          <p:cNvSpPr txBox="1">
            <a:spLocks noGrp="1"/>
          </p:cNvSpPr>
          <p:nvPr>
            <p:ph type="title" idx="4294967295"/>
          </p:nvPr>
        </p:nvSpPr>
        <p:spPr bwMode="auto">
          <a:xfrm>
            <a:off x="740833" y="627440"/>
            <a:ext cx="8607777" cy="1262440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277061" name="place_holder"/>
          <p:cNvSpPr txBox="1">
            <a:spLocks noGrp="1"/>
          </p:cNvSpPr>
          <p:nvPr>
            <p:ph type="body" idx="4294967295"/>
          </p:nvPr>
        </p:nvSpPr>
        <p:spPr bwMode="auto">
          <a:xfrm>
            <a:off x="740833" y="2101547"/>
            <a:ext cx="8607777" cy="4762500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181540" name="Datumsplatzhalter 1944763691"/>
          <p:cNvSpPr txBox="1">
            <a:spLocks noGrp="1"/>
          </p:cNvSpPr>
          <p:nvPr>
            <p:ph type="dt" sz="half" idx="1"/>
          </p:nvPr>
        </p:nvSpPr>
        <p:spPr bwMode="auto">
          <a:xfrm>
            <a:off x="2809263" y="38103239"/>
            <a:ext cx="6382037" cy="2799903"/>
          </a:xfrm>
        </p:spPr>
        <p:txBody>
          <a:bodyPr anchor="t"/>
          <a:lstStyle/>
          <a:p>
            <a:pPr>
              <a:defRPr/>
            </a:pPr>
            <a:fld id="{1D1B89AE-8D35-4BB5-B492-6D9BE4F23A39}" type="datetime1">
              <a:rPr lang="de-DE"/>
              <a:t>28.08.25</a:t>
            </a:fld>
            <a:endParaRPr sz="2000"/>
          </a:p>
        </p:txBody>
      </p:sp>
      <p:sp>
        <p:nvSpPr>
          <p:cNvPr id="58494476" name="Fußzeilenplatzhalter 61828393"/>
          <p:cNvSpPr txBox="1">
            <a:spLocks noGrp="1"/>
          </p:cNvSpPr>
          <p:nvPr>
            <p:ph type="ftr" sz="quarter" idx="2"/>
          </p:nvPr>
        </p:nvSpPr>
        <p:spPr bwMode="auto">
          <a:xfrm>
            <a:off x="10808679" y="38103239"/>
            <a:ext cx="8683013" cy="2799903"/>
          </a:xfrm>
        </p:spPr>
        <p:txBody>
          <a:bodyPr anchor="t"/>
          <a:lstStyle/>
          <a:p>
            <a:pPr algn="ctr">
              <a:defRPr sz="1400" strike="noStrike"/>
            </a:pPr>
            <a:endParaRPr/>
          </a:p>
        </p:txBody>
      </p:sp>
      <p:sp>
        <p:nvSpPr>
          <p:cNvPr id="1061143130" name="Foliennummernplatzhalter 2008872833"/>
          <p:cNvSpPr txBox="1">
            <a:spLocks noGrp="1"/>
          </p:cNvSpPr>
          <p:nvPr>
            <p:ph type="sldNum" sz="quarter" idx="3"/>
          </p:nvPr>
        </p:nvSpPr>
        <p:spPr bwMode="auto">
          <a:xfrm>
            <a:off x="21081351" y="38103239"/>
            <a:ext cx="6382037" cy="2799903"/>
          </a:xfrm>
        </p:spPr>
        <p:txBody>
          <a:bodyPr anchor="t"/>
          <a:lstStyle/>
          <a:p>
            <a:pPr algn="r">
              <a:defRPr sz="1400" strike="noStrike"/>
            </a:pPr>
            <a:fld id="{5CC2A059-B141-45A7-B910-B096D6D06820}" type="slidenum">
              <a:rPr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471514" name="Titelplatzhalter 204293293"/>
          <p:cNvSpPr txBox="1">
            <a:spLocks noGrp="1"/>
          </p:cNvSpPr>
          <p:nvPr>
            <p:ph type="title" idx="4294967295"/>
          </p:nvPr>
        </p:nvSpPr>
        <p:spPr bwMode="auto">
          <a:xfrm>
            <a:off x="2809263" y="2700189"/>
            <a:ext cx="24654126" cy="678413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>
              <a:defRPr/>
            </a:pPr>
            <a:endParaRPr/>
          </a:p>
        </p:txBody>
      </p:sp>
      <p:sp>
        <p:nvSpPr>
          <p:cNvPr id="2048017077" name="Textplatzhalter 1726383723"/>
          <p:cNvSpPr txBox="1">
            <a:spLocks noGrp="1"/>
          </p:cNvSpPr>
          <p:nvPr>
            <p:ph type="body" idx="4294967295"/>
          </p:nvPr>
        </p:nvSpPr>
        <p:spPr bwMode="auto">
          <a:xfrm>
            <a:off x="2809263" y="10588373"/>
            <a:ext cx="24654126" cy="2356951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pPr>
              <a:defRPr/>
            </a:pPr>
            <a:endParaRPr/>
          </a:p>
        </p:txBody>
      </p:sp>
      <p:sp>
        <p:nvSpPr>
          <p:cNvPr id="471003405" name="Datumsplatzhalter 677014167"/>
          <p:cNvSpPr txBox="1">
            <a:spLocks noGrp="1"/>
          </p:cNvSpPr>
          <p:nvPr>
            <p:ph type="dt" sz="half" idx="1"/>
          </p:nvPr>
        </p:nvSpPr>
        <p:spPr bwMode="auto">
          <a:xfrm>
            <a:off x="2809263" y="38103239"/>
            <a:ext cx="6382037" cy="2799903"/>
          </a:xfrm>
          <a:prstGeom prst="rect">
            <a:avLst/>
          </a:prstGeom>
          <a:noFill/>
          <a:ln>
            <a:noFill/>
          </a:ln>
          <a:effectLst/>
        </p:spPr>
        <p:txBody>
          <a:bodyPr anchor="t"/>
          <a:lstStyle/>
          <a:p>
            <a:pPr>
              <a:defRPr/>
            </a:pPr>
            <a:fld id="{1D1B89AE-8D35-4BB5-B492-6D9BE4F23A39}" type="datetime1">
              <a:rPr lang="de-DE"/>
              <a:t>28.08.25</a:t>
            </a:fld>
            <a:endParaRPr sz="22950"/>
          </a:p>
        </p:txBody>
      </p:sp>
      <p:sp>
        <p:nvSpPr>
          <p:cNvPr id="1739837818" name="Fußzeilenplatzhalter 735553256"/>
          <p:cNvSpPr txBox="1">
            <a:spLocks noGrp="1"/>
          </p:cNvSpPr>
          <p:nvPr>
            <p:ph type="ftr" sz="quarter" idx="2"/>
          </p:nvPr>
        </p:nvSpPr>
        <p:spPr bwMode="auto">
          <a:xfrm>
            <a:off x="10808679" y="38103239"/>
            <a:ext cx="8683013" cy="2799903"/>
          </a:xfrm>
          <a:prstGeom prst="rect">
            <a:avLst/>
          </a:prstGeom>
          <a:noFill/>
          <a:ln>
            <a:noFill/>
          </a:ln>
          <a:effectLst/>
        </p:spPr>
        <p:txBody>
          <a:bodyPr anchor="t"/>
          <a:lstStyle/>
          <a:p>
            <a:pPr>
              <a:defRPr/>
            </a:pPr>
            <a:endParaRPr/>
          </a:p>
        </p:txBody>
      </p:sp>
      <p:sp>
        <p:nvSpPr>
          <p:cNvPr id="537141375" name="Foliennummernplatzhalter 1389738029"/>
          <p:cNvSpPr txBox="1">
            <a:spLocks noGrp="1"/>
          </p:cNvSpPr>
          <p:nvPr>
            <p:ph type="sldNum" sz="quarter" idx="3"/>
          </p:nvPr>
        </p:nvSpPr>
        <p:spPr bwMode="auto">
          <a:xfrm>
            <a:off x="21081351" y="38103239"/>
            <a:ext cx="6382037" cy="2799903"/>
          </a:xfrm>
          <a:prstGeom prst="rect">
            <a:avLst/>
          </a:prstGeom>
          <a:noFill/>
          <a:ln>
            <a:noFill/>
          </a:ln>
          <a:effectLst/>
        </p:spPr>
        <p:txBody>
          <a:bodyPr anchor="t"/>
          <a:lstStyle/>
          <a:p>
            <a:pPr>
              <a:defRPr/>
            </a:pPr>
            <a:fld id="{5CC2A059-B141-45A7-B910-B096D6D06820}" type="slidenum">
              <a:rPr/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1" ftr="1" hdr="1" sldNum="1"/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media1.sv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page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071765" name="Textfeld 537594129"/>
          <p:cNvSpPr txBox="1"/>
          <p:nvPr/>
        </p:nvSpPr>
        <p:spPr bwMode="auto">
          <a:xfrm>
            <a:off x="2980612" y="4034265"/>
            <a:ext cx="24367225" cy="4031386"/>
          </a:xfrm>
          <a:prstGeom prst="rect">
            <a:avLst/>
          </a:prstGeom>
          <a:noFill/>
          <a:ln>
            <a:noFill/>
          </a:ln>
          <a:effectLst/>
        </p:spPr>
        <p:txBody>
          <a:bodyPr lIns="89993" tIns="44996" rIns="89993" bIns="44996"/>
          <a:lstStyle/>
          <a:p>
            <a:pPr algn="ctr">
              <a:lnSpc>
                <a:spcPct val="114999"/>
              </a:lnSpc>
              <a:defRPr/>
            </a:pPr>
            <a:r>
              <a:rPr lang="en-US" sz="5400" b="1" strike="noStrike">
                <a:latin typeface="Liberation Serif"/>
              </a:rPr>
              <a:t>Dominik Künkele</a:t>
            </a:r>
            <a:r>
              <a:rPr lang="en-US" sz="5400" b="1" strike="noStrike" baseline="30000">
                <a:latin typeface="Liberation Serif"/>
              </a:rPr>
              <a:t>1</a:t>
            </a:r>
            <a:r>
              <a:rPr lang="en-US" sz="5400" strike="noStrike">
                <a:latin typeface="Liberation Serif"/>
              </a:rPr>
              <a:t> and </a:t>
            </a:r>
            <a:r>
              <a:rPr lang="en-US" sz="5400" b="1" strike="noStrike">
                <a:latin typeface="Liberation Serif"/>
              </a:rPr>
              <a:t>Simon Dobnik</a:t>
            </a:r>
            <a:r>
              <a:rPr lang="en-US" sz="5400" b="1" baseline="30000"/>
              <a:t>1,2</a:t>
            </a:r>
            <a:endParaRPr lang="en-US" sz="5400" baseline="30000"/>
          </a:p>
          <a:p>
            <a:pPr algn="ctr">
              <a:defRPr/>
            </a:pPr>
            <a:r>
              <a:rPr lang="en-US" sz="4400" b="0" i="0" u="none" strike="noStrike" cap="none" spc="0" baseline="30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1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Department of Philosophy, Linguistics and Theory of Science</a:t>
            </a:r>
            <a:endParaRPr lang="en-US" sz="4400" b="0" i="0" u="none" strike="noStrike" cap="none" spc="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algn="ctr">
              <a:defRPr/>
            </a:pPr>
            <a:r>
              <a:rPr lang="en-US" sz="44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  </a:t>
            </a:r>
            <a:r>
              <a:rPr lang="en-US" sz="4400" b="0" i="0" u="none" strike="noStrike" cap="none" spc="0" baseline="3000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2</a:t>
            </a:r>
            <a:r>
              <a:rPr lang="en-US" sz="4400" b="0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Centre for Linguistic Theory and Studies in Probability (CLASP)</a:t>
            </a:r>
            <a:endParaRPr lang="en-US" sz="4400" b="0" i="0" u="none" strike="noStrike" cap="none" spc="0">
              <a:solidFill>
                <a:srgbClr val="000000"/>
              </a:solidFill>
              <a:latin typeface="Liberation Serif"/>
              <a:cs typeface="Liberation Serif"/>
            </a:endParaRPr>
          </a:p>
          <a:p>
            <a:pPr algn="ctr">
              <a:lnSpc>
                <a:spcPct val="114999"/>
              </a:lnSpc>
              <a:defRPr/>
            </a:pPr>
            <a:r>
              <a:rPr lang="en-US" sz="4400" strike="noStrike">
                <a:latin typeface="Liberation Serif"/>
              </a:rPr>
              <a:t>University of Gothenburg, Sweden</a:t>
            </a:r>
            <a:endParaRPr lang="en-US" sz="4400"/>
          </a:p>
          <a:p>
            <a:pPr algn="ctr">
              <a:lnSpc>
                <a:spcPct val="114999"/>
              </a:lnSpc>
              <a:defRPr/>
            </a:pPr>
            <a:r>
              <a:rPr lang="en-US" sz="4000">
                <a:latin typeface="Liberation Mono"/>
              </a:rPr>
              <a:t>contact@dominik-kuenkele.de</a:t>
            </a:r>
            <a:r>
              <a:rPr lang="en-US" sz="4000">
                <a:latin typeface="Liberation Mono"/>
              </a:rPr>
              <a:t> </a:t>
            </a:r>
            <a:r>
              <a:rPr lang="en-US" sz="4000" strike="noStrike">
                <a:latin typeface="Liberation Mono"/>
              </a:rPr>
              <a:t>simon.dobnik@gu.se</a:t>
            </a:r>
            <a:endParaRPr lang="en-US" sz="4000"/>
          </a:p>
        </p:txBody>
      </p:sp>
      <p:sp>
        <p:nvSpPr>
          <p:cNvPr id="1243184264" name="Textfeld 1657876059"/>
          <p:cNvSpPr txBox="1"/>
          <p:nvPr/>
        </p:nvSpPr>
        <p:spPr bwMode="auto">
          <a:xfrm>
            <a:off x="2953253" y="1554382"/>
            <a:ext cx="24367225" cy="2283696"/>
          </a:xfrm>
          <a:prstGeom prst="rect">
            <a:avLst/>
          </a:prstGeom>
          <a:noFill/>
          <a:ln>
            <a:noFill/>
          </a:ln>
          <a:effectLst/>
        </p:spPr>
        <p:txBody>
          <a:bodyPr lIns="89993" tIns="44996" rIns="89993" bIns="44996"/>
          <a:lstStyle/>
          <a:p>
            <a:pPr algn="ctr">
              <a:defRPr/>
            </a:pPr>
            <a:r>
              <a:rPr lang="en-US" sz="7200" b="1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Learning to Refer: How Scene Complexity Affects</a:t>
            </a:r>
            <a:endParaRPr lang="en-US" sz="7200" b="1" strike="noStrike">
              <a:latin typeface="Liberation Serif"/>
            </a:endParaRPr>
          </a:p>
          <a:p>
            <a:pPr algn="ctr">
              <a:defRPr/>
            </a:pPr>
            <a:r>
              <a:rPr lang="en-US" sz="7200" b="1" i="0" u="none" strike="noStrike" cap="none" spc="0">
                <a:solidFill>
                  <a:srgbClr val="000000"/>
                </a:solidFill>
                <a:latin typeface="Liberation Serif"/>
                <a:ea typeface="Liberation Serif"/>
                <a:cs typeface="Liberation Serif"/>
              </a:rPr>
              <a:t>Emergent Communication in Neural Agents</a:t>
            </a:r>
            <a:endParaRPr lang="en-US" sz="7200"/>
          </a:p>
        </p:txBody>
      </p:sp>
      <p:sp>
        <p:nvSpPr>
          <p:cNvPr id="1999618263" name="Rechteck 1849313518"/>
          <p:cNvSpPr/>
          <p:nvPr/>
        </p:nvSpPr>
        <p:spPr bwMode="auto">
          <a:xfrm>
            <a:off x="1432391" y="18544887"/>
            <a:ext cx="27397830" cy="22294694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txBody>
          <a:bodyPr lIns="89993" tIns="44996" rIns="89993" bIns="44996" anchor="ctr"/>
          <a:lstStyle/>
          <a:p>
            <a:pPr>
              <a:defRPr/>
            </a:pPr>
            <a:endParaRPr lang="en-US"/>
          </a:p>
        </p:txBody>
      </p:sp>
      <p:sp>
        <p:nvSpPr>
          <p:cNvPr id="1156436726" name="Textfeld 1122315059"/>
          <p:cNvSpPr txBox="1"/>
          <p:nvPr/>
        </p:nvSpPr>
        <p:spPr bwMode="auto">
          <a:xfrm>
            <a:off x="1671316" y="18087926"/>
            <a:ext cx="4374286" cy="9133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lIns="89993" tIns="44996" rIns="89993" bIns="44996">
            <a:spAutoFit/>
          </a:bodyPr>
          <a:lstStyle/>
          <a:p>
            <a:pPr>
              <a:defRPr/>
            </a:pPr>
            <a:r>
              <a:rPr lang="en-US" sz="5400" b="1" strike="noStrike" cap="small">
                <a:latin typeface="Liberation Serif"/>
              </a:rPr>
              <a:t>Experiments</a:t>
            </a:r>
            <a:endParaRPr lang="en-US" sz="5400"/>
          </a:p>
        </p:txBody>
      </p:sp>
      <p:sp>
        <p:nvSpPr>
          <p:cNvPr id="718952871" name="Textfeld 1148621842"/>
          <p:cNvSpPr txBox="1"/>
          <p:nvPr/>
        </p:nvSpPr>
        <p:spPr bwMode="auto">
          <a:xfrm>
            <a:off x="6413605" y="18721446"/>
            <a:ext cx="4193159" cy="913313"/>
          </a:xfrm>
          <a:prstGeom prst="rect">
            <a:avLst/>
          </a:prstGeom>
          <a:noFill/>
          <a:ln>
            <a:noFill/>
          </a:ln>
          <a:effectLst/>
        </p:spPr>
        <p:txBody>
          <a:bodyPr lIns="89993" tIns="44996" rIns="89993" bIns="44996">
            <a:spAutoFit/>
          </a:bodyPr>
          <a:lstStyle/>
          <a:p>
            <a:pPr algn="ctr">
              <a:defRPr/>
            </a:pPr>
            <a:r>
              <a:rPr lang="en-US" sz="5400" b="1" strike="noStrike">
                <a:latin typeface="Liberation Serif"/>
              </a:rPr>
              <a:t>Dale-2</a:t>
            </a:r>
            <a:endParaRPr lang="en-US" sz="5400"/>
          </a:p>
        </p:txBody>
      </p:sp>
      <p:pic>
        <p:nvPicPr>
          <p:cNvPr id="1609739764" name="Grafik 1554823867"/>
          <p:cNvPicPr/>
          <p:nvPr/>
        </p:nvPicPr>
        <p:blipFill>
          <a:blip r:embed="rId3">
            <a:alphaModFix/>
            <a:lum/>
          </a:blip>
          <a:stretch/>
        </p:blipFill>
        <p:spPr bwMode="auto">
          <a:xfrm>
            <a:off x="26186910" y="18358"/>
            <a:ext cx="3049727" cy="3534977"/>
          </a:xfrm>
          <a:prstGeom prst="rect">
            <a:avLst/>
          </a:prstGeom>
          <a:ln>
            <a:noFill/>
          </a:ln>
          <a:effectLst/>
        </p:spPr>
      </p:pic>
      <p:sp>
        <p:nvSpPr>
          <p:cNvPr id="489691331" name="Textfeld 1508962150"/>
          <p:cNvSpPr txBox="1"/>
          <p:nvPr/>
        </p:nvSpPr>
        <p:spPr bwMode="auto">
          <a:xfrm>
            <a:off x="1671316" y="9778199"/>
            <a:ext cx="8653782" cy="72928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89993" tIns="44996" rIns="89993" bIns="44996" anchor="ctr">
            <a:spAutoFit/>
          </a:bodyPr>
          <a:lstStyle/>
          <a:p>
            <a:pPr>
              <a:defRPr/>
            </a:pPr>
            <a:r>
              <a:rPr lang="en-US" sz="3600" b="0" i="1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 picture </a:t>
            </a:r>
            <a:r>
              <a:rPr lang="en-US" sz="3600" i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is worth a</a:t>
            </a:r>
            <a:r>
              <a:rPr lang="en-US" sz="3600" b="0" i="1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thousand words...</a:t>
            </a:r>
            <a:endParaRPr/>
          </a:p>
          <a:p>
            <a:pPr>
              <a:defRPr/>
            </a:pPr>
            <a:endParaRPr lang="en-US" sz="3600" b="0" i="1" u="none" strike="noStrike" cap="none" spc="0">
              <a:solidFill>
                <a:srgbClr val="000000"/>
              </a:solidFill>
              <a:latin typeface="Liberation Sans"/>
              <a:ea typeface="Liberation Sans"/>
              <a:cs typeface="Liberation Sans"/>
            </a:endParaRPr>
          </a:p>
          <a:p>
            <a:pPr marL="526195" indent="-526195">
              <a:buFont typeface="Arial"/>
              <a:buChar char="•"/>
              <a:defRPr/>
            </a:pP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Study 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emergence of discrete linguistic symbols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and 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languages 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from continuous sensory input in 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interactive</a:t>
            </a:r>
            <a:r>
              <a:rPr lang="en-US" sz="1600" b="1"/>
              <a:t> 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communication</a:t>
            </a:r>
            <a:endParaRPr/>
          </a:p>
          <a:p>
            <a:pPr marL="526195" indent="-526195">
              <a:buFont typeface="Arial"/>
              <a:buChar char="•"/>
              <a:defRPr/>
            </a:pP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Study 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constraints 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on symbol grounding in interacting neural agents</a:t>
            </a:r>
            <a:endParaRPr/>
          </a:p>
          <a:p>
            <a:pPr marL="526195" indent="-526195">
              <a:buFont typeface="Arial"/>
              <a:buChar char="•"/>
              <a:defRPr/>
            </a:pP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Investigate the effects of 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structured </a:t>
            </a:r>
            <a:r>
              <a:rPr lang="en-US" sz="36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biases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</a:t>
            </a:r>
            <a:r>
              <a:rPr lang="en-US" sz="360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of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scene complexity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, 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discriminating features </a:t>
            </a:r>
            <a:r>
              <a:rPr lang="en-US" sz="360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present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,</a:t>
            </a:r>
            <a:r>
              <a:rPr lang="en-US" sz="1600"/>
              <a:t> 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and 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message space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on emergent languages</a:t>
            </a:r>
            <a:endParaRPr/>
          </a:p>
        </p:txBody>
      </p:sp>
      <p:grpSp>
        <p:nvGrpSpPr>
          <p:cNvPr id="1058722581" name="Gruppieren 21684334"/>
          <p:cNvGrpSpPr/>
          <p:nvPr/>
        </p:nvGrpSpPr>
        <p:grpSpPr bwMode="auto">
          <a:xfrm>
            <a:off x="10690691" y="8150201"/>
            <a:ext cx="8892707" cy="9776692"/>
            <a:chOff x="0" y="0"/>
            <a:chExt cx="8892707" cy="9776692"/>
          </a:xfrm>
        </p:grpSpPr>
        <p:sp>
          <p:nvSpPr>
            <p:cNvPr id="1765351502" name="Rechteck 1765351501"/>
            <p:cNvSpPr/>
            <p:nvPr/>
          </p:nvSpPr>
          <p:spPr bwMode="auto">
            <a:xfrm>
              <a:off x="0" y="533444"/>
              <a:ext cx="8892707" cy="9243248"/>
            </a:xfrm>
            <a:prstGeom prst="rect">
              <a:avLst/>
            </a:prstGeom>
            <a:noFill/>
            <a:ln w="12700">
              <a:solidFill>
                <a:srgbClr val="000000"/>
              </a:solidFill>
            </a:ln>
            <a:effectLst/>
          </p:spPr>
          <p:txBody>
            <a:bodyPr lIns="89992" tIns="44995" rIns="89992" bIns="44995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06445936" name="Textfeld 1606445935"/>
            <p:cNvSpPr txBox="1"/>
            <p:nvPr/>
          </p:nvSpPr>
          <p:spPr bwMode="auto">
            <a:xfrm>
              <a:off x="172693" y="0"/>
              <a:ext cx="2076532" cy="9218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89992" tIns="44995" rIns="89992" bIns="44995">
              <a:spAutoFit/>
            </a:bodyPr>
            <a:lstStyle/>
            <a:p>
              <a:pPr>
                <a:defRPr/>
              </a:pPr>
              <a:r>
                <a:rPr lang="en-US" sz="5400" b="1" strike="noStrike" cap="small">
                  <a:latin typeface="Liberation Serif"/>
                </a:rPr>
                <a:t>Setup</a:t>
              </a:r>
              <a:endParaRPr lang="en-US" sz="5400"/>
            </a:p>
          </p:txBody>
        </p:sp>
      </p:grpSp>
      <p:grpSp>
        <p:nvGrpSpPr>
          <p:cNvPr id="567297029" name="Gruppieren 184360476"/>
          <p:cNvGrpSpPr/>
          <p:nvPr/>
        </p:nvGrpSpPr>
        <p:grpSpPr bwMode="auto">
          <a:xfrm>
            <a:off x="1432391" y="8168047"/>
            <a:ext cx="8892707" cy="9776691"/>
            <a:chOff x="0" y="0"/>
            <a:chExt cx="8892707" cy="9776691"/>
          </a:xfrm>
        </p:grpSpPr>
        <p:sp>
          <p:nvSpPr>
            <p:cNvPr id="101002424" name="Rechteck 101002423"/>
            <p:cNvSpPr/>
            <p:nvPr/>
          </p:nvSpPr>
          <p:spPr bwMode="auto">
            <a:xfrm>
              <a:off x="0" y="533443"/>
              <a:ext cx="8892707" cy="9243248"/>
            </a:xfrm>
            <a:prstGeom prst="rect">
              <a:avLst/>
            </a:prstGeom>
            <a:noFill/>
            <a:ln w="12700">
              <a:solidFill>
                <a:srgbClr val="000000"/>
              </a:solidFill>
            </a:ln>
            <a:effectLst/>
          </p:spPr>
          <p:txBody>
            <a:bodyPr lIns="89992" tIns="44995" rIns="89992" bIns="44995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69192990" name="Textfeld 1269192989"/>
            <p:cNvSpPr txBox="1"/>
            <p:nvPr/>
          </p:nvSpPr>
          <p:spPr bwMode="auto">
            <a:xfrm>
              <a:off x="172692" y="0"/>
              <a:ext cx="1722417" cy="9133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89992" tIns="44995" rIns="89992" bIns="44995">
              <a:spAutoFit/>
            </a:bodyPr>
            <a:lstStyle/>
            <a:p>
              <a:pPr>
                <a:defRPr/>
              </a:pPr>
              <a:r>
                <a:rPr lang="en-US" sz="5400" b="1" strike="noStrike" cap="small">
                  <a:latin typeface="Liberation Serif"/>
                </a:rPr>
                <a:t>Aims</a:t>
              </a:r>
              <a:endParaRPr lang="en-US" sz="5400"/>
            </a:p>
          </p:txBody>
        </p:sp>
      </p:grpSp>
      <p:grpSp>
        <p:nvGrpSpPr>
          <p:cNvPr id="438173662" name="Gruppieren 1597280519"/>
          <p:cNvGrpSpPr/>
          <p:nvPr/>
        </p:nvGrpSpPr>
        <p:grpSpPr bwMode="auto">
          <a:xfrm>
            <a:off x="19937514" y="8168407"/>
            <a:ext cx="8892707" cy="9776691"/>
            <a:chOff x="0" y="0"/>
            <a:chExt cx="8892707" cy="9776691"/>
          </a:xfrm>
        </p:grpSpPr>
        <p:sp>
          <p:nvSpPr>
            <p:cNvPr id="1649300553" name="Rechteck 1649300552"/>
            <p:cNvSpPr/>
            <p:nvPr/>
          </p:nvSpPr>
          <p:spPr bwMode="auto">
            <a:xfrm>
              <a:off x="0" y="533443"/>
              <a:ext cx="8892707" cy="9243248"/>
            </a:xfrm>
            <a:prstGeom prst="rect">
              <a:avLst/>
            </a:prstGeom>
            <a:noFill/>
            <a:ln w="12700">
              <a:solidFill>
                <a:srgbClr val="000000"/>
              </a:solidFill>
            </a:ln>
            <a:effectLst/>
          </p:spPr>
          <p:txBody>
            <a:bodyPr lIns="89992" tIns="44995" rIns="89992" bIns="44995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76284473" name="Textfeld 576284472"/>
            <p:cNvSpPr txBox="1"/>
            <p:nvPr/>
          </p:nvSpPr>
          <p:spPr bwMode="auto">
            <a:xfrm>
              <a:off x="172692" y="0"/>
              <a:ext cx="3019494" cy="9218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square" lIns="89992" tIns="44995" rIns="89992" bIns="44995">
              <a:spAutoFit/>
            </a:bodyPr>
            <a:lstStyle/>
            <a:p>
              <a:pPr>
                <a:defRPr/>
              </a:pPr>
              <a:r>
                <a:rPr lang="en-US" sz="5400" b="1" cap="small">
                  <a:latin typeface="Liberation Serif"/>
                </a:rPr>
                <a:t>Findings</a:t>
              </a:r>
              <a:endParaRPr lang="en-US" sz="5400"/>
            </a:p>
          </p:txBody>
        </p:sp>
      </p:grpSp>
      <p:pic>
        <p:nvPicPr>
          <p:cNvPr id="996200285" name="Grafik 153115962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840818" y="9512011"/>
            <a:ext cx="8580975" cy="5910147"/>
          </a:xfrm>
          <a:prstGeom prst="rect">
            <a:avLst/>
          </a:prstGeom>
        </p:spPr>
      </p:pic>
      <p:sp>
        <p:nvSpPr>
          <p:cNvPr id="474356964" name="Textfeld 410206752"/>
          <p:cNvSpPr txBox="1"/>
          <p:nvPr/>
        </p:nvSpPr>
        <p:spPr bwMode="auto">
          <a:xfrm flipH="0" flipV="0">
            <a:off x="20104249" y="9058924"/>
            <a:ext cx="8645916" cy="835116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89991" tIns="44994" rIns="89991" bIns="44994" anchor="ctr">
            <a:spAutoFit/>
          </a:bodyPr>
          <a:lstStyle/>
          <a:p>
            <a:pPr marL="526194" indent="-526194">
              <a:buFont typeface="Arial"/>
              <a:buChar char="•"/>
              <a:defRPr/>
            </a:pP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Medium vocabularies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(|V| ∈ {10, 16}) and message lengths (n ∈ {2, 4}) perform best</a:t>
            </a:r>
            <a:endParaRPr/>
          </a:p>
          <a:p>
            <a:pPr marL="526195" indent="-526195"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Emergent vocabularies </a:t>
            </a:r>
            <a:r>
              <a:rPr lang="en-US" sz="3600" b="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align with the structured contextual biases</a:t>
            </a:r>
            <a:r>
              <a:rPr lang="en-US" sz="36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introduced</a:t>
            </a:r>
            <a:endParaRPr lang="en-US" sz="3600" b="0" i="0" u="none" strike="noStrike" cap="none" spc="0">
              <a:solidFill>
                <a:srgbClr val="000000"/>
              </a:solidFill>
              <a:latin typeface="Liberation Sans"/>
              <a:ea typeface="Liberation Sans"/>
              <a:cs typeface="Liberation Sans"/>
            </a:endParaRPr>
          </a:p>
          <a:p>
            <a:pPr marL="526195" indent="-526195">
              <a:buFont typeface="Arial"/>
              <a:buChar char="•"/>
              <a:defRPr/>
            </a:pP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Scene complexity (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number of distractors, number of features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) </a:t>
            </a:r>
            <a:r>
              <a:rPr lang="en-US" sz="360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strongly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impacts communication success</a:t>
            </a:r>
            <a:endParaRPr lang="en-US" sz="1600"/>
          </a:p>
          <a:p>
            <a:pPr marL="526195" indent="-526195">
              <a:buFont typeface="Arial"/>
              <a:buChar char="•"/>
              <a:defRPr/>
            </a:pP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Shape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attributes 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easiest 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to learn, 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size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attributes </a:t>
            </a: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most challenging</a:t>
            </a:r>
            <a:endParaRPr/>
          </a:p>
          <a:p>
            <a:pPr marL="526195" indent="-526195">
              <a:buFont typeface="Arial"/>
              <a:buChar char="•"/>
              <a:defRPr/>
            </a:pPr>
            <a:r>
              <a:rPr lang="en-US" sz="3600" b="1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Future:</a:t>
            </a:r>
            <a:r>
              <a:rPr lang="en-US" sz="3600" b="0" i="0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 Compare emergent vocabularies and languages with (different) natural languages</a:t>
            </a:r>
            <a:endParaRPr lang="en-US" sz="3600" b="0" i="0" u="none" strike="noStrike" cap="non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1303953171" name="Textfeld 1953644600"/>
          <p:cNvSpPr txBox="1"/>
          <p:nvPr/>
        </p:nvSpPr>
        <p:spPr bwMode="auto">
          <a:xfrm>
            <a:off x="1337400" y="41206799"/>
            <a:ext cx="1242131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800">
                <a:latin typeface="Liberation Sans Narrow"/>
              </a:rPr>
              <a:t>16th International Conference on Computational Semantics (IWCS 2025)</a:t>
            </a:r>
            <a:endParaRPr/>
          </a:p>
        </p:txBody>
      </p:sp>
      <p:pic>
        <p:nvPicPr>
          <p:cNvPr id="1919053849" name="Grafik 20707913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25401221" y="41246206"/>
            <a:ext cx="3429000" cy="1000125"/>
          </a:xfrm>
          <a:prstGeom prst="rect">
            <a:avLst/>
          </a:prstGeom>
        </p:spPr>
      </p:pic>
      <p:sp>
        <p:nvSpPr>
          <p:cNvPr id="1973897032" name="Textfeld 1464513697"/>
          <p:cNvSpPr txBox="1"/>
          <p:nvPr/>
        </p:nvSpPr>
        <p:spPr bwMode="auto">
          <a:xfrm>
            <a:off x="14587759" y="18721449"/>
            <a:ext cx="4196399" cy="913311"/>
          </a:xfrm>
          <a:prstGeom prst="rect">
            <a:avLst/>
          </a:prstGeom>
          <a:noFill/>
          <a:ln>
            <a:noFill/>
          </a:ln>
          <a:effectLst/>
        </p:spPr>
        <p:txBody>
          <a:bodyPr lIns="89992" tIns="44995" rIns="89992" bIns="44995">
            <a:spAutoFit/>
          </a:bodyPr>
          <a:lstStyle/>
          <a:p>
            <a:pPr algn="ctr">
              <a:defRPr/>
            </a:pPr>
            <a:r>
              <a:rPr lang="en-US" sz="5400" b="1" strike="noStrike">
                <a:latin typeface="Liberation Serif"/>
              </a:rPr>
              <a:t>Dale-5</a:t>
            </a:r>
            <a:endParaRPr lang="en-US" sz="5400"/>
          </a:p>
        </p:txBody>
      </p:sp>
      <p:sp>
        <p:nvSpPr>
          <p:cNvPr id="1776280464" name="Textfeld 42616493"/>
          <p:cNvSpPr txBox="1"/>
          <p:nvPr/>
        </p:nvSpPr>
        <p:spPr bwMode="auto">
          <a:xfrm>
            <a:off x="22574251" y="18725814"/>
            <a:ext cx="4461381" cy="913311"/>
          </a:xfrm>
          <a:prstGeom prst="rect">
            <a:avLst/>
          </a:prstGeom>
          <a:noFill/>
          <a:ln>
            <a:noFill/>
          </a:ln>
          <a:effectLst/>
        </p:spPr>
        <p:txBody>
          <a:bodyPr lIns="89992" tIns="44995" rIns="89992" bIns="44995">
            <a:spAutoFit/>
          </a:bodyPr>
          <a:lstStyle/>
          <a:p>
            <a:pPr algn="ctr">
              <a:defRPr/>
            </a:pPr>
            <a:r>
              <a:rPr lang="en-US" sz="5400" b="1" strike="noStrike">
                <a:latin typeface="Liberation Serif"/>
              </a:rPr>
              <a:t>CLEVR Color</a:t>
            </a:r>
            <a:endParaRPr lang="en-US" sz="5400"/>
          </a:p>
        </p:txBody>
      </p:sp>
      <p:pic>
        <p:nvPicPr>
          <p:cNvPr id="2007410629" name="Grafik 182970422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20711764" y="34385736"/>
            <a:ext cx="8037683" cy="6262236"/>
          </a:xfrm>
          <a:prstGeom prst="rect">
            <a:avLst/>
          </a:prstGeom>
        </p:spPr>
      </p:pic>
      <p:pic>
        <p:nvPicPr>
          <p:cNvPr id="673837099" name="Grafik 1399311797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4429288" y="34383778"/>
            <a:ext cx="8040197" cy="6264194"/>
          </a:xfrm>
          <a:prstGeom prst="rect">
            <a:avLst/>
          </a:prstGeom>
        </p:spPr>
      </p:pic>
      <p:pic>
        <p:nvPicPr>
          <p:cNvPr id="5950507" name="Grafik 1109880374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12645913" y="34384992"/>
            <a:ext cx="8038638" cy="6262980"/>
          </a:xfrm>
          <a:prstGeom prst="rect">
            <a:avLst/>
          </a:prstGeom>
        </p:spPr>
      </p:pic>
      <p:graphicFrame>
        <p:nvGraphicFramePr>
          <p:cNvPr id="591501384" name="Tabelle 1863437105"/>
          <p:cNvGraphicFramePr>
            <a:graphicFrameLocks xmlns:a="http://schemas.openxmlformats.org/drawingml/2006/main"/>
          </p:cNvGraphicFramePr>
          <p:nvPr/>
        </p:nvGraphicFramePr>
        <p:xfrm>
          <a:off x="1560303" y="25720720"/>
          <a:ext cx="26923998" cy="7807968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{7E9639D4-E3E2-4D34-9284-5A2195B3D0D7}</a:tableStyleId>
              </a:tblPr>
              <a:tblGrid>
                <a:gridCol w="2919324"/>
                <a:gridCol w="8136904"/>
                <a:gridCol w="8136904"/>
                <a:gridCol w="7730867"/>
              </a:tblGrid>
              <a:tr h="1259119">
                <a:tc>
                  <a:txBody>
                    <a:bodyPr/>
                    <a:p>
                      <a:pPr algn="r">
                        <a:defRPr/>
                      </a:pPr>
                      <a:r>
                        <a:rPr lang="de-DE" sz="3600" b="1">
                          <a:latin typeface="Liberation Sans Narrow"/>
                        </a:rPr>
                        <a:t>Strict</a:t>
                      </a:r>
                      <a:r>
                        <a:rPr lang="de-DE" sz="3600" b="1">
                          <a:latin typeface="Liberation Sans Narrow"/>
                        </a:rPr>
                        <a:t> </a:t>
                      </a:r>
                      <a:r>
                        <a:rPr lang="de-DE" sz="3600" b="1">
                          <a:latin typeface="Liberation Sans Narrow"/>
                        </a:rPr>
                        <a:t>string</a:t>
                      </a:r>
                      <a:r>
                        <a:rPr lang="de-DE" sz="3600" b="1">
                          <a:latin typeface="Liberation Sans Narrow"/>
                        </a:rPr>
                        <a:t> </a:t>
                      </a:r>
                      <a:r>
                        <a:rPr lang="de-DE" sz="3600" b="1">
                          <a:latin typeface="Liberation Sans Narrow"/>
                        </a:rPr>
                        <a:t>accuracy</a:t>
                      </a:r>
                      <a:endParaRPr sz="3600" b="1">
                        <a:latin typeface="Liberation Sans Narrow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5715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99%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6349" algn="ctr">
                      <a:noFill/>
                    </a:lnT>
                    <a:lnB w="5715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69%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6349" algn="ctr">
                      <a:noFill/>
                    </a:lnT>
                    <a:lnB w="5715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93%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12700" algn="ctr">
                      <a:solidFill>
                        <a:schemeClr val="tx1"/>
                      </a:solidFill>
                    </a:lnL>
                    <a:lnR w="6349" algn="ctr">
                      <a:noFill/>
                    </a:lnR>
                    <a:lnT w="6349" algn="ctr">
                      <a:noFill/>
                    </a:lnT>
                    <a:lnB w="57150" algn="ctr">
                      <a:solidFill>
                        <a:schemeClr val="tx1"/>
                      </a:solidFill>
                    </a:lnB>
                  </a:tcPr>
                </a:tc>
              </a:tr>
              <a:tr h="1377373">
                <a:tc>
                  <a:txBody>
                    <a:bodyPr/>
                    <a:p>
                      <a:pPr algn="r">
                        <a:defRPr/>
                      </a:pPr>
                      <a:r>
                        <a:rPr lang="de-DE" sz="3600" b="1">
                          <a:latin typeface="Liberation Sans Narrow"/>
                        </a:rPr>
                        <a:t>F1 score</a:t>
                      </a:r>
                      <a:endParaRPr sz="3600" b="1">
                        <a:latin typeface="Liberation Sans Narrow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6349" algn="ctr">
                      <a:noFill/>
                    </a:lnR>
                    <a:lnT w="5715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98,57%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5715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89,53%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5715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95,17%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12700" algn="ctr">
                      <a:solidFill>
                        <a:schemeClr val="tx1"/>
                      </a:solidFill>
                    </a:lnL>
                    <a:lnR w="6349" algn="ctr">
                      <a:noFill/>
                    </a:lnR>
                    <a:lnT w="5715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</a:tr>
              <a:tr h="1292869">
                <a:tc>
                  <a:txBody>
                    <a:bodyPr/>
                    <a:p>
                      <a:pPr algn="r">
                        <a:defRPr/>
                      </a:pPr>
                      <a:r>
                        <a:rPr lang="de-DE" sz="3600" b="1">
                          <a:latin typeface="Liberation Sans Narrow"/>
                        </a:rPr>
                        <a:t>Shape </a:t>
                      </a:r>
                      <a:endParaRPr/>
                    </a:p>
                    <a:p>
                      <a:pPr algn="r">
                        <a:defRPr/>
                      </a:pPr>
                      <a:r>
                        <a:rPr lang="de-DE" sz="3600" b="1">
                          <a:latin typeface="Liberation Sans Narrow"/>
                        </a:rPr>
                        <a:t>Prec</a:t>
                      </a:r>
                      <a:r>
                        <a:rPr lang="de-DE" sz="3600" b="1">
                          <a:latin typeface="Liberation Sans Narrow"/>
                        </a:rPr>
                        <a:t> / </a:t>
                      </a:r>
                      <a:r>
                        <a:rPr lang="de-DE" sz="3600" b="1">
                          <a:latin typeface="Liberation Sans Narrow"/>
                        </a:rPr>
                        <a:t>Rec</a:t>
                      </a:r>
                      <a:endParaRPr sz="3600" b="1">
                        <a:latin typeface="Liberation Sans Narrow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6349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99,75% / 99,74% 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98,30% / 98,3%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100% / 100%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12700" algn="ctr">
                      <a:solidFill>
                        <a:schemeClr val="tx1"/>
                      </a:solidFill>
                    </a:lnL>
                    <a:lnR w="6349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</a:tr>
              <a:tr h="1292869">
                <a:tc>
                  <a:txBody>
                    <a:bodyPr/>
                    <a:p>
                      <a:pPr algn="r">
                        <a:defRPr/>
                      </a:pPr>
                      <a:r>
                        <a:rPr lang="de-DE" sz="3600" b="1">
                          <a:latin typeface="Liberation Sans Narrow"/>
                        </a:rPr>
                        <a:t>Color</a:t>
                      </a:r>
                      <a:endParaRPr/>
                    </a:p>
                    <a:p>
                      <a:pPr algn="r">
                        <a:defRPr/>
                      </a:pPr>
                      <a:r>
                        <a:rPr lang="de-DE" sz="3600" b="1">
                          <a:latin typeface="Liberation Sans Narrow"/>
                        </a:rPr>
                        <a:t>Prec</a:t>
                      </a:r>
                      <a:r>
                        <a:rPr lang="de-DE" sz="3600" b="1">
                          <a:latin typeface="Liberation Sans Narrow"/>
                        </a:rPr>
                        <a:t> / </a:t>
                      </a:r>
                      <a:r>
                        <a:rPr lang="de-DE" sz="3600" b="1">
                          <a:latin typeface="Liberation Sans Narrow"/>
                        </a:rPr>
                        <a:t>Rec</a:t>
                      </a:r>
                      <a:endParaRPr sz="3600" b="1">
                        <a:latin typeface="Liberation Sans Narrow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6349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98,09% / 98,53%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92,44% / 92,95%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92,76% / 92,76%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12700" algn="ctr">
                      <a:solidFill>
                        <a:schemeClr val="tx1"/>
                      </a:solidFill>
                    </a:lnL>
                    <a:lnR w="6349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</a:tr>
              <a:tr h="1292869">
                <a:tc>
                  <a:txBody>
                    <a:bodyPr/>
                    <a:p>
                      <a:pPr algn="r">
                        <a:defRPr/>
                      </a:pPr>
                      <a:r>
                        <a:rPr lang="de-DE" sz="3600" b="1">
                          <a:latin typeface="Liberation Sans Narrow"/>
                        </a:rPr>
                        <a:t>Size </a:t>
                      </a:r>
                      <a:endParaRPr/>
                    </a:p>
                    <a:p>
                      <a:pPr algn="r">
                        <a:defRPr/>
                      </a:pPr>
                      <a:r>
                        <a:rPr lang="de-DE" sz="3600" b="1">
                          <a:latin typeface="Liberation Sans Narrow"/>
                        </a:rPr>
                        <a:t>Prec</a:t>
                      </a:r>
                      <a:r>
                        <a:rPr lang="de-DE" sz="3600" b="1">
                          <a:latin typeface="Liberation Sans Narrow"/>
                        </a:rPr>
                        <a:t> / </a:t>
                      </a:r>
                      <a:r>
                        <a:rPr lang="de-DE" sz="3600" b="1">
                          <a:latin typeface="Liberation Sans Narrow"/>
                        </a:rPr>
                        <a:t>Rec</a:t>
                      </a:r>
                      <a:endParaRPr sz="3600" b="1">
                        <a:latin typeface="Liberation Sans Narrow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6349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6349" algn="ctr"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98,73% / 95,9%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6349" algn="ctr">
                      <a:noFill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6349" algn="ctr"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69,43% / 64,13%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6349" algn="ctr"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N/A</a:t>
                      </a:r>
                      <a:endParaRPr sz="3600">
                        <a:latin typeface="Liberation Sans Narrow"/>
                      </a:endParaRPr>
                    </a:p>
                  </a:txBody>
                  <a:tcPr marL="90000" anchor="ctr">
                    <a:lnL w="12700" algn="ctr">
                      <a:solidFill>
                        <a:schemeClr val="tx1"/>
                      </a:solidFill>
                    </a:lnL>
                    <a:lnR w="6349" algn="ctr">
                      <a:noFill/>
                    </a:lnR>
                    <a:lnT w="12700" algn="ctr">
                      <a:solidFill>
                        <a:schemeClr val="tx1"/>
                      </a:solidFill>
                    </a:lnT>
                    <a:lnB w="6349" algn="ctr">
                      <a:noFill/>
                    </a:lnB>
                  </a:tcPr>
                </a:tc>
              </a:tr>
              <a:tr h="1292869">
                <a:tc>
                  <a:txBody>
                    <a:bodyPr/>
                    <a:p>
                      <a:pPr algn="r">
                        <a:defRPr/>
                      </a:pPr>
                      <a:r>
                        <a:rPr lang="de-DE" sz="3600" b="1">
                          <a:latin typeface="Liberation Sans Narrow"/>
                        </a:rPr>
                        <a:t>&lt;pad&gt;</a:t>
                      </a:r>
                      <a:endParaRPr lang="de-DE" sz="3600" b="1">
                        <a:latin typeface="Liberation Sans Narrow"/>
                      </a:endParaRPr>
                    </a:p>
                    <a:p>
                      <a:pPr algn="r">
                        <a:defRPr/>
                      </a:pPr>
                      <a:r>
                        <a:rPr lang="de-DE" sz="3600" b="1">
                          <a:latin typeface="Liberation Sans Narrow"/>
                        </a:rPr>
                        <a:t>Prec / Rec</a:t>
                      </a:r>
                      <a:endParaRPr lang="de-DE" sz="3600" b="1">
                        <a:latin typeface="Liberation Sans Narrow"/>
                      </a:endParaRPr>
                    </a:p>
                  </a:txBody>
                  <a:tcPr marL="90000" marR="91440" marT="45720" marB="45720" anchor="ctr">
                    <a:lnL w="6348" algn="ctr">
                      <a:noFill/>
                    </a:lnL>
                    <a:lnR w="6348" algn="ctr">
                      <a:noFill/>
                    </a:lnR>
                    <a:lnT w="12699" algn="ctr">
                      <a:solidFill>
                        <a:schemeClr val="tx1"/>
                      </a:solidFill>
                    </a:lnT>
                    <a:lnB w="6348" algn="ctr"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99,64% / 99,77%</a:t>
                      </a:r>
                      <a:endParaRPr lang="de-DE" sz="3600">
                        <a:latin typeface="Liberation Sans Narrow"/>
                      </a:endParaRPr>
                    </a:p>
                  </a:txBody>
                  <a:tcPr marL="90000" marR="91440" marT="45720" marB="45720" anchor="ctr">
                    <a:lnL w="6348" algn="ctr">
                      <a:noFill/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6348" algn="ctr"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82,22% / 84,59%</a:t>
                      </a:r>
                      <a:endParaRPr lang="de-DE" sz="3600">
                        <a:latin typeface="Liberation Sans Narrow"/>
                      </a:endParaRPr>
                    </a:p>
                  </a:txBody>
                  <a:tcPr marL="90000" marR="91440" marT="45720" marB="45720" anchor="ctr">
                    <a:lnL w="12699" algn="ctr">
                      <a:solidFill>
                        <a:schemeClr val="tx1"/>
                      </a:solidFill>
                    </a:lnL>
                    <a:lnR w="12699" algn="ctr">
                      <a:solidFill>
                        <a:schemeClr val="tx1"/>
                      </a:solidFill>
                    </a:lnR>
                    <a:lnT w="12699" algn="ctr">
                      <a:solidFill>
                        <a:schemeClr val="tx1"/>
                      </a:solidFill>
                    </a:lnT>
                    <a:lnB w="6348" algn="ctr">
                      <a:noFill/>
                    </a:lnB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de-DE" sz="3600">
                          <a:latin typeface="Liberation Sans Narrow"/>
                        </a:rPr>
                        <a:t>100% / 100%</a:t>
                      </a:r>
                      <a:endParaRPr lang="de-DE" sz="3600">
                        <a:latin typeface="Liberation Sans Narrow"/>
                      </a:endParaRPr>
                    </a:p>
                  </a:txBody>
                  <a:tcPr marL="90000" marR="91440" marT="45720" marB="45720" anchor="ctr">
                    <a:lnL w="12699" algn="ctr">
                      <a:solidFill>
                        <a:schemeClr val="tx1"/>
                      </a:solidFill>
                    </a:lnL>
                    <a:lnR w="6348" algn="ctr">
                      <a:noFill/>
                    </a:lnR>
                    <a:lnT w="12699" algn="ctr">
                      <a:solidFill>
                        <a:schemeClr val="tx1"/>
                      </a:solidFill>
                    </a:lnT>
                    <a:lnB w="6348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51545620" name="Textfeld 712748203"/>
          <p:cNvSpPr txBox="1"/>
          <p:nvPr/>
        </p:nvSpPr>
        <p:spPr bwMode="auto">
          <a:xfrm>
            <a:off x="1671316" y="33461912"/>
            <a:ext cx="16345816" cy="9218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89992" tIns="44995" rIns="89992" bIns="44995">
            <a:spAutoFit/>
          </a:bodyPr>
          <a:lstStyle/>
          <a:p>
            <a:pPr>
              <a:defRPr/>
            </a:pPr>
            <a:r>
              <a:rPr lang="en-US" sz="5400" b="1" strike="noStrike" cap="small">
                <a:latin typeface="Liberation Serif"/>
              </a:rPr>
              <a:t>Sender and Receiver in Emergent Interaction</a:t>
            </a:r>
            <a:endParaRPr lang="en-US" sz="5400"/>
          </a:p>
        </p:txBody>
      </p:sp>
      <p:sp>
        <p:nvSpPr>
          <p:cNvPr id="1822829534" name="Textfeld 1306445904"/>
          <p:cNvSpPr txBox="1"/>
          <p:nvPr/>
        </p:nvSpPr>
        <p:spPr bwMode="auto">
          <a:xfrm>
            <a:off x="1671315" y="24870862"/>
            <a:ext cx="13177464" cy="9218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lIns="89992" tIns="44995" rIns="89992" bIns="44995">
            <a:spAutoFit/>
          </a:bodyPr>
          <a:lstStyle/>
          <a:p>
            <a:pPr>
              <a:defRPr/>
            </a:pPr>
            <a:r>
              <a:rPr lang="en-US" sz="5400" b="1" strike="noStrike" cap="small">
                <a:latin typeface="Liberation Serif"/>
              </a:rPr>
              <a:t>Sender in Supervised Generation (GRE)</a:t>
            </a:r>
            <a:endParaRPr lang="en-US" sz="5400"/>
          </a:p>
        </p:txBody>
      </p:sp>
      <p:sp>
        <p:nvSpPr>
          <p:cNvPr id="1296765236" name="Textfeld 1"/>
          <p:cNvSpPr txBox="1"/>
          <p:nvPr/>
        </p:nvSpPr>
        <p:spPr bwMode="auto">
          <a:xfrm>
            <a:off x="11025859" y="15732323"/>
            <a:ext cx="8395934" cy="17528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89993" tIns="44996" rIns="89993" bIns="44996" anchor="ctr">
            <a:spAutoFit/>
          </a:bodyPr>
          <a:lstStyle>
            <a:defPPr/>
            <a:lvl1pPr>
              <a:defRPr sz="4000" b="0" i="1" u="none" strike="noStrike" cap="non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defRPr>
            </a:lvl1pPr>
          </a:lstStyle>
          <a:p>
            <a:pPr marL="571500" indent="-571500">
              <a:buFont typeface="Arial"/>
              <a:buChar char="•"/>
              <a:defRPr/>
            </a:pPr>
            <a:r>
              <a:rPr lang="en-US" sz="3600" i="0"/>
              <a:t>Receiver </a:t>
            </a:r>
            <a:r>
              <a:rPr lang="en-US" sz="3600" b="1" i="0"/>
              <a:t>attends to region </a:t>
            </a:r>
            <a:r>
              <a:rPr lang="en-US" sz="3600" i="0"/>
              <a:t>in visual scene </a:t>
            </a:r>
            <a:r>
              <a:rPr lang="en-US" sz="3600" b="1" i="0"/>
              <a:t>based on the sender‘s message</a:t>
            </a:r>
            <a:endParaRPr/>
          </a:p>
        </p:txBody>
      </p:sp>
      <p:pic>
        <p:nvPicPr>
          <p:cNvPr id="562815345" name="Grafik 4"/>
          <p:cNvPicPr>
            <a:picLocks noChangeAspect="1"/>
          </p:cNvPicPr>
          <p:nvPr/>
        </p:nvPicPr>
        <p:blipFill>
          <a:blip r:embed="rId10"/>
          <a:srcRect l="70084" t="9033" r="0" b="2254"/>
          <a:stretch/>
        </p:blipFill>
        <p:spPr bwMode="auto">
          <a:xfrm>
            <a:off x="20958790" y="19772773"/>
            <a:ext cx="7692301" cy="4964516"/>
          </a:xfrm>
          <a:prstGeom prst="rect">
            <a:avLst/>
          </a:prstGeom>
        </p:spPr>
      </p:pic>
      <p:pic>
        <p:nvPicPr>
          <p:cNvPr id="555468108" name="Grafik 5"/>
          <p:cNvPicPr>
            <a:picLocks noChangeAspect="1"/>
          </p:cNvPicPr>
          <p:nvPr/>
        </p:nvPicPr>
        <p:blipFill>
          <a:blip r:embed="rId11"/>
          <a:srcRect l="35375" t="9466" r="35359" b="2659"/>
          <a:stretch/>
        </p:blipFill>
        <p:spPr bwMode="auto">
          <a:xfrm>
            <a:off x="4600112" y="19740127"/>
            <a:ext cx="7692300" cy="5029808"/>
          </a:xfrm>
          <a:prstGeom prst="rect">
            <a:avLst/>
          </a:prstGeom>
        </p:spPr>
      </p:pic>
      <p:pic>
        <p:nvPicPr>
          <p:cNvPr id="851503486" name="Grafik 6"/>
          <p:cNvPicPr>
            <a:picLocks noChangeAspect="1"/>
          </p:cNvPicPr>
          <p:nvPr/>
        </p:nvPicPr>
        <p:blipFill>
          <a:blip r:embed="rId12"/>
          <a:srcRect l="70888" t="8364" r="0" b="2546"/>
          <a:stretch/>
        </p:blipFill>
        <p:spPr bwMode="auto">
          <a:xfrm>
            <a:off x="12985434" y="19743096"/>
            <a:ext cx="7551977" cy="5029808"/>
          </a:xfrm>
          <a:prstGeom prst="rect">
            <a:avLst/>
          </a:prstGeom>
        </p:spPr>
      </p:pic>
      <p:sp>
        <p:nvSpPr>
          <p:cNvPr id="518124053" name="TextBox 2"/>
          <p:cNvSpPr txBox="1"/>
          <p:nvPr/>
        </p:nvSpPr>
        <p:spPr bwMode="auto">
          <a:xfrm flipH="0" flipV="0">
            <a:off x="12985434" y="41206798"/>
            <a:ext cx="10295512" cy="945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sz="2800">
                <a:latin typeface="Liberation Sans Narrow"/>
              </a:rPr>
              <a:t>Supported by the Swedish Research Council Project Grant (VR 2023-01552) </a:t>
            </a:r>
            <a:r>
              <a:rPr sz="2800" b="1">
                <a:latin typeface="Liberation Sans Narrow"/>
              </a:rPr>
              <a:t>Beyond Pixels and Words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tandard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Standard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User Theme: 2">
  <a:themeElements>
    <a:clrScheme name="User Theme: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ser Theme: 2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User Theme: 2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22</cp:revision>
  <dcterms:modified xsi:type="dcterms:W3CDTF">2025-08-28T19:01:56Z</dcterms:modified>
</cp:coreProperties>
</file>