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Layouts/slideLayout1.xml" ContentType="application/vnd.openxmlformats-officedocument.presentationml.slideLayout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entation.xml" ContentType="application/vnd.openxmlformats-officedocument.presentationml.presentation.main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slideMasters/slideMaster1.xml" ContentType="application/vnd.openxmlformats-officedocument.presentationml.slideMaster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5"/>
  </p:notesMasterIdLst>
  <p:sldIdLst>
    <p:sldId id="256" r:id="rId4"/>
  </p:sldIdLst>
  <p:sldSz cx="30274092" cy="42801303" type="custom"/>
  <p:notesSz cx="6858000" cy="9144000"/>
  <p:defaultTextStyle>
    <a:defPPr/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7E9639D4-E3E2-4D34-9284-5A2195B3D0D7}">
  <a:tblStyle styleId="{7E9639D4-E3E2-4D34-9284-5A2195B3D0D7}" styleName="Light Style 2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dk1"/>
              </a:solidFill>
            </a:ln>
          </a:left>
          <a:right>
            <a:ln w="12700">
              <a:solidFill>
                <a:schemeClr val="dk1"/>
              </a:solidFill>
            </a:ln>
          </a:right>
          <a:top>
            <a:ln w="12700">
              <a:solidFill>
                <a:schemeClr val="dk1"/>
              </a:solidFill>
            </a:ln>
          </a:top>
          <a:bottom>
            <a:ln w="12700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>
          <a:top>
            <a:ln w="12700">
              <a:solidFill>
                <a:schemeClr val="dk1"/>
              </a:solidFill>
            </a:ln>
          </a:top>
          <a:bottom>
            <a:ln w="12700">
              <a:solidFill>
                <a:schemeClr val="dk1"/>
              </a:solidFill>
            </a:ln>
          </a:bottom>
        </a:tcBdr>
        <a:fill>
          <a:solidFill>
            <a:schemeClr val="lt1"/>
          </a:solidFill>
        </a:fill>
      </a:tcStyle>
    </a:band1H>
    <a:band2H>
      <a:tcStyle>
        <a:tcBdr/>
      </a:tcStyle>
    </a:band2H>
    <a:band1V>
      <a:tcStyle>
        <a:tcBdr>
          <a:left>
            <a:ln w="12700">
              <a:solidFill>
                <a:schemeClr val="dk1"/>
              </a:solidFill>
            </a:ln>
          </a:left>
          <a:right>
            <a:ln w="12700">
              <a:solidFill>
                <a:schemeClr val="dk1"/>
              </a:solidFill>
            </a:ln>
          </a:right>
        </a:tcBdr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dk1"/>
      </a:tcTxStyle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38100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12700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>
        <p:scale>
          <a:sx n="0" d="6"/>
          <a:sy n="0" d="2"/>
        </p:scale>
        <p:origin x="1097035856" y="0"/>
      </p:cViewPr>
      <p:guideLst>
        <p:guide pos="9535"/>
        <p:guide pos="13480" orient="horz"/>
        <p:guide pos="6626"/>
        <p:guide pos="12434"/>
        <p:guide pos="794"/>
        <p:guide pos="1829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624700" name=""/>
          <p:cNvSpPr txBox="1"/>
          <p:nvPr>
            <p:ph type="body" idx="4294967295"/>
          </p:nvPr>
        </p:nvSpPr>
        <p:spPr bwMode="auto">
          <a:xfrm>
            <a:off x="755951" y="5078200"/>
            <a:ext cx="6047259" cy="4810736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Standar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882059" name="place_holder"/>
          <p:cNvSpPr txBox="1"/>
          <p:nvPr>
            <p:ph type="title" idx="4294967295"/>
          </p:nvPr>
        </p:nvSpPr>
        <p:spPr bwMode="auto">
          <a:xfrm>
            <a:off x="740833" y="627440"/>
            <a:ext cx="8607777" cy="1262440"/>
          </a:xfrm>
        </p:spPr>
        <p:txBody>
          <a:bodyPr/>
          <a:p>
            <a:pPr>
              <a:defRPr/>
            </a:pPr>
            <a:endParaRPr/>
          </a:p>
        </p:txBody>
      </p:sp>
      <p:sp>
        <p:nvSpPr>
          <p:cNvPr id="643444921" name="place_holder"/>
          <p:cNvSpPr txBox="1"/>
          <p:nvPr>
            <p:ph type="body" idx="4294967295"/>
          </p:nvPr>
        </p:nvSpPr>
        <p:spPr bwMode="auto">
          <a:xfrm>
            <a:off x="740833" y="2101547"/>
            <a:ext cx="8607777" cy="4762500"/>
          </a:xfrm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44763692" name=""/>
          <p:cNvSpPr txBox="1"/>
          <p:nvPr>
            <p:ph type="dt" sz="half" idx="1"/>
          </p:nvPr>
        </p:nvSpPr>
        <p:spPr bwMode="auto">
          <a:xfrm>
            <a:off x="2809263" y="38103239"/>
            <a:ext cx="6382037" cy="2799903"/>
          </a:xfrm>
        </p:spPr>
        <p:txBody>
          <a:bodyPr anchor="t"/>
          <a:lstStyle/>
          <a:p>
            <a:pPr>
              <a:defRPr/>
            </a:pPr>
            <a:fld id="{1D1B89AE-8D35-4BB5-B492-6D9BE4F23A39}" type="datetime1">
              <a:rPr/>
              <a:t>01.01.2000</a:t>
            </a:fld>
            <a:endParaRPr sz="2000"/>
          </a:p>
        </p:txBody>
      </p:sp>
      <p:sp>
        <p:nvSpPr>
          <p:cNvPr id="61828394" name=""/>
          <p:cNvSpPr txBox="1"/>
          <p:nvPr>
            <p:ph type="ftr" sz="quarter" idx="2"/>
          </p:nvPr>
        </p:nvSpPr>
        <p:spPr bwMode="auto">
          <a:xfrm>
            <a:off x="10808679" y="38103239"/>
            <a:ext cx="8683013" cy="2799903"/>
          </a:xfrm>
        </p:spPr>
        <p:txBody>
          <a:bodyPr anchor="t"/>
          <a:lstStyle/>
          <a:p>
            <a:pPr algn="ctr">
              <a:defRPr sz="1400" strike="noStrike"/>
            </a:pPr>
            <a:endParaRPr/>
          </a:p>
        </p:txBody>
      </p:sp>
      <p:sp>
        <p:nvSpPr>
          <p:cNvPr id="2008872834" name=""/>
          <p:cNvSpPr txBox="1"/>
          <p:nvPr>
            <p:ph type="sldNum" sz="quarter" idx="3"/>
          </p:nvPr>
        </p:nvSpPr>
        <p:spPr bwMode="auto">
          <a:xfrm>
            <a:off x="21081351" y="38103239"/>
            <a:ext cx="6382037" cy="2799903"/>
          </a:xfrm>
        </p:spPr>
        <p:txBody>
          <a:bodyPr anchor="t"/>
          <a:lstStyle/>
          <a:p>
            <a:pPr algn="r">
              <a:defRPr sz="1400" strike="noStrike"/>
            </a:pPr>
            <a:fld id="{5CC2A059-B141-45A7-B910-B096D6D06820}" type="slidenum">
              <a:rPr/>
              <a:t>&lt;Foliennummer&gt;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293294" name=""/>
          <p:cNvSpPr txBox="1"/>
          <p:nvPr>
            <p:ph type="title" idx="4294967295"/>
          </p:nvPr>
        </p:nvSpPr>
        <p:spPr bwMode="auto">
          <a:xfrm>
            <a:off x="2809263" y="2700189"/>
            <a:ext cx="24654126" cy="6784132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p>
            <a:pPr>
              <a:defRPr/>
            </a:pPr>
            <a:endParaRPr/>
          </a:p>
        </p:txBody>
      </p:sp>
      <p:sp>
        <p:nvSpPr>
          <p:cNvPr id="1726383724" name=""/>
          <p:cNvSpPr txBox="1"/>
          <p:nvPr>
            <p:ph type="body" idx="4294967295"/>
          </p:nvPr>
        </p:nvSpPr>
        <p:spPr bwMode="auto">
          <a:xfrm>
            <a:off x="2809263" y="10588373"/>
            <a:ext cx="24654126" cy="2356951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p>
            <a:pPr>
              <a:defRPr/>
            </a:pPr>
            <a:endParaRPr/>
          </a:p>
        </p:txBody>
      </p:sp>
      <p:sp>
        <p:nvSpPr>
          <p:cNvPr id="677014168" name=""/>
          <p:cNvSpPr txBox="1"/>
          <p:nvPr>
            <p:ph type="dt" sz="half" idx="1"/>
          </p:nvPr>
        </p:nvSpPr>
        <p:spPr bwMode="auto">
          <a:xfrm>
            <a:off x="2809263" y="38103239"/>
            <a:ext cx="6382037" cy="2799903"/>
          </a:xfrm>
          <a:prstGeom prst="rect">
            <a:avLst/>
          </a:prstGeom>
          <a:noFill/>
          <a:ln>
            <a:noFill/>
          </a:ln>
          <a:effectLst/>
        </p:spPr>
        <p:txBody>
          <a:bodyPr anchor="t"/>
          <a:lstStyle/>
          <a:p>
            <a:pPr>
              <a:defRPr/>
            </a:pPr>
            <a:fld id="{1D1B89AE-8D35-4BB5-B492-6D9BE4F23A39}" type="datetime1">
              <a:rPr/>
              <a:t>01.01.2000</a:t>
            </a:fld>
            <a:endParaRPr sz="22950"/>
          </a:p>
        </p:txBody>
      </p:sp>
      <p:sp>
        <p:nvSpPr>
          <p:cNvPr id="735553257" name=""/>
          <p:cNvSpPr txBox="1"/>
          <p:nvPr>
            <p:ph type="ftr" sz="quarter" idx="2"/>
          </p:nvPr>
        </p:nvSpPr>
        <p:spPr bwMode="auto">
          <a:xfrm>
            <a:off x="10808679" y="38103239"/>
            <a:ext cx="8683013" cy="2799903"/>
          </a:xfrm>
          <a:prstGeom prst="rect">
            <a:avLst/>
          </a:prstGeom>
          <a:noFill/>
          <a:ln>
            <a:noFill/>
          </a:ln>
          <a:effectLst/>
        </p:spPr>
        <p:txBody>
          <a:bodyPr anchor="t"/>
          <a:lstStyle/>
          <a:p>
            <a:pPr>
              <a:defRPr/>
            </a:pPr>
            <a:endParaRPr/>
          </a:p>
        </p:txBody>
      </p:sp>
      <p:sp>
        <p:nvSpPr>
          <p:cNvPr id="1389738030" name=""/>
          <p:cNvSpPr txBox="1"/>
          <p:nvPr>
            <p:ph type="sldNum" sz="quarter" idx="3"/>
          </p:nvPr>
        </p:nvSpPr>
        <p:spPr bwMode="auto">
          <a:xfrm>
            <a:off x="21081351" y="38103239"/>
            <a:ext cx="6382037" cy="2799903"/>
          </a:xfrm>
          <a:prstGeom prst="rect">
            <a:avLst/>
          </a:prstGeom>
          <a:noFill/>
          <a:ln>
            <a:noFill/>
          </a:ln>
          <a:effectLst/>
        </p:spPr>
        <p:txBody>
          <a:bodyPr anchor="t"/>
          <a:lstStyle/>
          <a:p>
            <a:pPr>
              <a:defRPr/>
            </a:pPr>
            <a:fld id="{5CC2A059-B141-45A7-B910-B096D6D06820}" type="slidenum">
              <a:rPr/>
              <a:t>&lt;Foliennummer&gt;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1" ftr="1" hdr="1" sldNum="1"/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ontact@dominik-kuenkele.de" TargetMode="External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png"/><Relationship Id="rId10" Type="http://schemas.openxmlformats.org/officeDocument/2006/relationships/image" Target="../media/media1.svg"/><Relationship Id="rId11" Type="http://schemas.openxmlformats.org/officeDocument/2006/relationships/image" Target="../media/image7.png"/><Relationship Id="rId12" Type="http://schemas.openxmlformats.org/officeDocument/2006/relationships/image" Target="../media/image8.png"/><Relationship Id="rId1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page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7594130" name=""/>
          <p:cNvSpPr txBox="1"/>
          <p:nvPr/>
        </p:nvSpPr>
        <p:spPr bwMode="auto">
          <a:xfrm>
            <a:off x="2980612" y="4034265"/>
            <a:ext cx="24367225" cy="4031386"/>
          </a:xfrm>
          <a:prstGeom prst="rect">
            <a:avLst/>
          </a:prstGeom>
          <a:noFill/>
          <a:ln>
            <a:noFill/>
          </a:ln>
          <a:effectLst/>
        </p:spPr>
        <p:txBody>
          <a:bodyPr lIns="89993" tIns="44996" rIns="89993" bIns="44996"/>
          <a:lstStyle/>
          <a:p>
            <a:pPr algn="ctr">
              <a:lnSpc>
                <a:spcPct val="114999"/>
              </a:lnSpc>
              <a:defRPr/>
            </a:pPr>
            <a:r>
              <a:rPr lang="en-GB" sz="5400" b="1" strike="noStrike">
                <a:latin typeface="Liberation Serif"/>
              </a:rPr>
              <a:t>Dominik Künkele</a:t>
            </a:r>
            <a:r>
              <a:rPr lang="de-DE" sz="5400" b="1" strike="noStrike" baseline="30000">
                <a:latin typeface="Liberation Serif"/>
              </a:rPr>
              <a:t>1</a:t>
            </a:r>
            <a:r>
              <a:rPr lang="en-GB" sz="5400" strike="noStrike">
                <a:latin typeface="Liberation Serif"/>
              </a:rPr>
              <a:t> and </a:t>
            </a:r>
            <a:r>
              <a:rPr lang="en-GB" sz="5400" b="1" strike="noStrike">
                <a:latin typeface="Liberation Serif"/>
              </a:rPr>
              <a:t>Simon Dobnik</a:t>
            </a:r>
            <a:r>
              <a:rPr lang="de-DE" sz="5400" b="1" baseline="30000"/>
              <a:t>1,2</a:t>
            </a:r>
            <a:endParaRPr sz="5400" baseline="30000"/>
          </a:p>
          <a:p>
            <a:pPr algn="ctr">
              <a:defRPr/>
            </a:pPr>
            <a:r>
              <a:rPr lang="de-DE" sz="4400" b="0" i="0" u="none" strike="noStrike" cap="none" spc="0" baseline="3000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1</a:t>
            </a:r>
            <a:r>
              <a:rPr lang="en-GB" sz="4400" b="0" i="0" u="none" strike="noStrike" cap="none" spc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Department of Philosophy, Linguistics and Theory of Science</a:t>
            </a:r>
            <a:endParaRPr lang="en-GB" sz="4400" b="0" i="0" u="none" strike="noStrike" cap="none" spc="0">
              <a:solidFill>
                <a:srgbClr val="000000"/>
              </a:solidFill>
              <a:latin typeface="Liberation Serif"/>
              <a:cs typeface="Liberation Serif"/>
            </a:endParaRPr>
          </a:p>
          <a:p>
            <a:pPr algn="ctr">
              <a:defRPr/>
            </a:pPr>
            <a:r>
              <a:rPr lang="en-GB" sz="4400" b="0" i="0" u="none" strike="noStrike" cap="none" spc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  </a:t>
            </a:r>
            <a:r>
              <a:rPr lang="de-DE" sz="4400" b="0" i="0" u="none" strike="noStrike" cap="none" spc="0" baseline="3000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2</a:t>
            </a:r>
            <a:r>
              <a:rPr lang="en-GB" sz="4400" b="0" i="0" u="none" strike="noStrike" cap="none" spc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Centre for Linguistic Theory and Studies in Probability (CLASP)</a:t>
            </a:r>
            <a:endParaRPr lang="en-GB" sz="4400" b="0" i="0" u="none" strike="noStrike" cap="none" spc="0">
              <a:solidFill>
                <a:srgbClr val="000000"/>
              </a:solidFill>
              <a:latin typeface="Liberation Serif"/>
              <a:cs typeface="Liberation Serif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GB" sz="4400" strike="noStrike">
                <a:latin typeface="Liberation Serif"/>
              </a:rPr>
              <a:t>University of Gothenburg, Sweden</a:t>
            </a:r>
            <a:endParaRPr sz="4400"/>
          </a:p>
          <a:p>
            <a:pPr algn="ctr">
              <a:lnSpc>
                <a:spcPct val="114999"/>
              </a:lnSpc>
              <a:defRPr/>
            </a:pPr>
            <a:r>
              <a:rPr lang="de-DE" sz="4000" u="sng" strike="noStrike">
                <a:latin typeface="Liberation Mono"/>
                <a:hlinkClick r:id="rId3" tooltip=""/>
              </a:rPr>
              <a:t>contact@</a:t>
            </a:r>
            <a:r>
              <a:rPr lang="de-DE" sz="4000" u="sng" strike="noStrike">
                <a:latin typeface="Liberation Mono"/>
                <a:hlinkClick r:id="rId3" tooltip=""/>
              </a:rPr>
              <a:t>dominik</a:t>
            </a:r>
            <a:r>
              <a:rPr lang="de-DE" sz="4000" u="sng" strike="noStrike">
                <a:latin typeface="Liberation Mono"/>
                <a:hlinkClick r:id="rId3" tooltip=""/>
              </a:rPr>
              <a:t>-</a:t>
            </a:r>
            <a:r>
              <a:rPr lang="de-DE" sz="4000" u="sng" strike="noStrike">
                <a:latin typeface="Liberation Mono"/>
                <a:hlinkClick r:id="rId3" tooltip=""/>
              </a:rPr>
              <a:t>kuenkele</a:t>
            </a:r>
            <a:r>
              <a:rPr lang="de-DE" sz="4000" u="sng" strike="noStrike">
                <a:latin typeface="Liberation Mono"/>
                <a:hlinkClick r:id="rId3" tooltip=""/>
              </a:rPr>
              <a:t>.de</a:t>
            </a:r>
            <a:r>
              <a:rPr lang="de-DE" sz="4000" strike="noStrike">
                <a:latin typeface="Liberation Mono"/>
              </a:rPr>
              <a:t> </a:t>
            </a:r>
            <a:r>
              <a:rPr lang="en-GB" sz="4000" strike="noStrike">
                <a:latin typeface="Liberation Mono"/>
              </a:rPr>
              <a:t>simon.dobnik@gu.se</a:t>
            </a:r>
            <a:endParaRPr sz="4000"/>
          </a:p>
        </p:txBody>
      </p:sp>
      <p:sp>
        <p:nvSpPr>
          <p:cNvPr id="1657876060" name=""/>
          <p:cNvSpPr txBox="1"/>
          <p:nvPr/>
        </p:nvSpPr>
        <p:spPr bwMode="auto">
          <a:xfrm>
            <a:off x="2953253" y="1554382"/>
            <a:ext cx="24367225" cy="2283696"/>
          </a:xfrm>
          <a:prstGeom prst="rect">
            <a:avLst/>
          </a:prstGeom>
          <a:noFill/>
          <a:ln>
            <a:noFill/>
          </a:ln>
          <a:effectLst/>
        </p:spPr>
        <p:txBody>
          <a:bodyPr lIns="89993" tIns="44996" rIns="89993" bIns="44996"/>
          <a:lstStyle/>
          <a:p>
            <a:pPr algn="ctr">
              <a:defRPr/>
            </a:pPr>
            <a:r>
              <a:rPr lang="en-GB" sz="7200" b="1" i="0" u="none" strike="noStrike" cap="none" spc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Learning to Refer: How Scene Complexity Affects</a:t>
            </a:r>
            <a:endParaRPr lang="en-GB" sz="7200" b="1" strike="noStrike">
              <a:latin typeface="Liberation Serif"/>
            </a:endParaRPr>
          </a:p>
          <a:p>
            <a:pPr algn="ctr">
              <a:defRPr/>
            </a:pPr>
            <a:r>
              <a:rPr lang="en-GB" sz="7200" b="1" i="0" u="none" strike="noStrike" cap="none" spc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Emergent Communication in Neural Agents</a:t>
            </a:r>
            <a:endParaRPr sz="7200"/>
          </a:p>
        </p:txBody>
      </p:sp>
      <p:sp>
        <p:nvSpPr>
          <p:cNvPr id="1849313519" name=""/>
          <p:cNvSpPr/>
          <p:nvPr/>
        </p:nvSpPr>
        <p:spPr bwMode="auto">
          <a:xfrm flipH="0" flipV="0">
            <a:off x="1432391" y="19017644"/>
            <a:ext cx="27397830" cy="21617654"/>
          </a:xfrm>
          <a:prstGeom prst="rect">
            <a:avLst/>
          </a:prstGeom>
          <a:noFill/>
          <a:ln w="0">
            <a:solidFill>
              <a:srgbClr val="000000"/>
            </a:solidFill>
          </a:ln>
          <a:effectLst/>
        </p:spPr>
        <p:txBody>
          <a:bodyPr lIns="89993" tIns="44996" rIns="89993" bIns="44996" anchor="ctr"/>
          <a:p>
            <a:pPr>
              <a:defRPr/>
            </a:pPr>
            <a:endParaRPr/>
          </a:p>
        </p:txBody>
      </p:sp>
      <p:sp>
        <p:nvSpPr>
          <p:cNvPr id="1122315060" name=""/>
          <p:cNvSpPr txBox="1"/>
          <p:nvPr/>
        </p:nvSpPr>
        <p:spPr bwMode="auto">
          <a:xfrm flipH="0" flipV="0">
            <a:off x="1836732" y="18526390"/>
            <a:ext cx="4374286" cy="91331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lIns="89993" tIns="44996" rIns="89993" bIns="44996">
            <a:spAutoFit/>
          </a:bodyPr>
          <a:lstStyle/>
          <a:p>
            <a:pPr>
              <a:defRPr/>
            </a:pPr>
            <a:r>
              <a:rPr lang="de-DE" sz="5400" b="1" strike="noStrike" cap="small">
                <a:latin typeface="Liberation Serif"/>
              </a:rPr>
              <a:t>Experiments</a:t>
            </a:r>
            <a:endParaRPr sz="5400"/>
          </a:p>
        </p:txBody>
      </p:sp>
      <p:pic>
        <p:nvPicPr>
          <p:cNvPr id="1375978890" name=""/>
          <p:cNvPicPr/>
          <p:nvPr/>
        </p:nvPicPr>
        <p:blipFill>
          <a:blip r:embed="rId4">
            <a:alphaModFix amt="100000"/>
            <a:lum bright="0" contrast="0"/>
          </a:blip>
          <a:stretch/>
        </p:blipFill>
        <p:spPr bwMode="auto">
          <a:xfrm flipH="0" flipV="0">
            <a:off x="12809399" y="20294599"/>
            <a:ext cx="7692300" cy="5159305"/>
          </a:xfrm>
          <a:prstGeom prst="rect">
            <a:avLst/>
          </a:prstGeom>
          <a:ln>
            <a:noFill/>
          </a:ln>
          <a:effectLst/>
        </p:spPr>
      </p:pic>
      <p:sp>
        <p:nvSpPr>
          <p:cNvPr id="1148621843" name=""/>
          <p:cNvSpPr txBox="1"/>
          <p:nvPr/>
        </p:nvSpPr>
        <p:spPr bwMode="auto">
          <a:xfrm rot="0" flipH="0" flipV="0">
            <a:off x="6117321" y="19305087"/>
            <a:ext cx="4193159" cy="913313"/>
          </a:xfrm>
          <a:prstGeom prst="rect">
            <a:avLst/>
          </a:prstGeom>
          <a:noFill/>
          <a:ln>
            <a:noFill/>
          </a:ln>
          <a:effectLst/>
        </p:spPr>
        <p:txBody>
          <a:bodyPr lIns="89993" tIns="44996" rIns="89993" bIns="44996">
            <a:spAutoFit/>
          </a:bodyPr>
          <a:lstStyle/>
          <a:p>
            <a:pPr algn="ctr">
              <a:defRPr/>
            </a:pPr>
            <a:r>
              <a:rPr sz="5400" b="1" strike="noStrike">
                <a:latin typeface="Liberation Serif"/>
              </a:rPr>
              <a:t>Dale-</a:t>
            </a:r>
            <a:r>
              <a:rPr lang="de-DE" sz="5400" b="1" strike="noStrike">
                <a:latin typeface="Liberation Serif"/>
              </a:rPr>
              <a:t>2</a:t>
            </a:r>
            <a:endParaRPr sz="5400"/>
          </a:p>
        </p:txBody>
      </p:sp>
      <p:pic>
        <p:nvPicPr>
          <p:cNvPr id="1554823868" name=""/>
          <p:cNvPicPr/>
          <p:nvPr/>
        </p:nvPicPr>
        <p:blipFill>
          <a:blip r:embed="rId5">
            <a:alphaModFix amt="100000"/>
            <a:lum bright="0" contrast="0"/>
          </a:blip>
          <a:stretch/>
        </p:blipFill>
        <p:spPr bwMode="auto">
          <a:xfrm flipH="0" flipV="0">
            <a:off x="26186910" y="18358"/>
            <a:ext cx="3049727" cy="3534977"/>
          </a:xfrm>
          <a:prstGeom prst="rect">
            <a:avLst/>
          </a:prstGeom>
          <a:ln>
            <a:noFill/>
          </a:ln>
          <a:effectLst/>
        </p:spPr>
      </p:pic>
      <p:sp>
        <p:nvSpPr>
          <p:cNvPr id="1508962151" name=""/>
          <p:cNvSpPr txBox="1"/>
          <p:nvPr/>
        </p:nvSpPr>
        <p:spPr bwMode="auto">
          <a:xfrm flipH="0" flipV="0">
            <a:off x="1676399" y="7817718"/>
            <a:ext cx="8291099" cy="9843953"/>
          </a:xfrm>
          <a:prstGeom prst="rect">
            <a:avLst/>
          </a:prstGeom>
          <a:noFill/>
          <a:ln>
            <a:noFill/>
          </a:ln>
          <a:effectLst/>
        </p:spPr>
        <p:txBody>
          <a:bodyPr lIns="89993" tIns="44996" rIns="89993" bIns="44996" anchor="ctr">
            <a:spAutoFit/>
          </a:bodyPr>
          <a:lstStyle/>
          <a:p>
            <a:pPr marL="526195" indent="-526195">
              <a:buFont typeface="Arial"/>
              <a:buChar char="•"/>
              <a:defRPr/>
            </a:pPr>
            <a:endParaRPr lang="en-GB" sz="4000" b="0" i="0" u="none" strike="noStrike" cap="none" spc="0">
              <a:solidFill>
                <a:srgbClr val="000000"/>
              </a:solidFill>
              <a:latin typeface="Liberation Sans"/>
              <a:cs typeface="Liberation Sans"/>
            </a:endParaRPr>
          </a:p>
          <a:p>
            <a:pPr marL="526195" indent="-526195">
              <a:buFont typeface="Arial"/>
              <a:buChar char="•"/>
              <a:defRPr/>
            </a:pPr>
            <a:endParaRPr lang="en-GB" sz="4000" b="0" i="0" u="none" strike="noStrike" cap="none" spc="0">
              <a:solidFill>
                <a:srgbClr val="000000"/>
              </a:solidFill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r>
              <a:rPr lang="de-DE" sz="4000" b="0" i="1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 picture can say thousand words...</a:t>
            </a:r>
            <a:endParaRPr lang="de-DE" sz="4000" b="0" i="1" u="none" strike="noStrike" cap="none" spc="0">
              <a:solidFill>
                <a:srgbClr val="000000"/>
              </a:solidFill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endParaRPr sz="4000" b="0" i="1" u="none" strike="noStrike" cap="none" spc="0">
              <a:solidFill>
                <a:srgbClr val="000000"/>
              </a:solidFill>
              <a:latin typeface="Liberation Sans"/>
              <a:ea typeface="Liberation Sans"/>
              <a:cs typeface="Liberation Sans"/>
            </a:endParaRPr>
          </a:p>
          <a:p>
            <a:pPr marL="526195" indent="-526195">
              <a:buFont typeface="Arial"/>
              <a:buChar char="•"/>
              <a:defRPr/>
            </a:pP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Study </a:t>
            </a:r>
            <a:r>
              <a:rPr lang="en-GB" sz="4000" b="1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emergence of discrete linguis</a:t>
            </a:r>
            <a:r>
              <a:rPr lang="en-GB" sz="4000" b="1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tic symbols</a:t>
            </a: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and </a:t>
            </a:r>
            <a:r>
              <a:rPr lang="en-GB" sz="4000" b="1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languages </a:t>
            </a: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from con</a:t>
            </a: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tinuous sensory input in </a:t>
            </a:r>
            <a:r>
              <a:rPr lang="en-GB" sz="4000" b="1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interactive</a:t>
            </a:r>
            <a:r>
              <a:rPr lang="de-DE" b="1"/>
              <a:t> </a:t>
            </a:r>
            <a:r>
              <a:rPr lang="en-GB" sz="4000" b="1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communicatio</a:t>
            </a:r>
            <a:r>
              <a:rPr lang="de-DE" sz="4000" b="1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n</a:t>
            </a:r>
            <a:endParaRPr sz="4000" b="1" i="0" u="none" strike="noStrike" cap="none" spc="0">
              <a:solidFill>
                <a:srgbClr val="000000"/>
              </a:solidFill>
              <a:latin typeface="Liberation Sans"/>
              <a:ea typeface="Liberation Sans"/>
              <a:cs typeface="Liberation Sans"/>
            </a:endParaRPr>
          </a:p>
          <a:p>
            <a:pPr marL="526195" indent="-526195">
              <a:buFont typeface="Arial"/>
              <a:buChar char="•"/>
              <a:defRPr/>
            </a:pP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Study </a:t>
            </a:r>
            <a:r>
              <a:rPr lang="en-GB" sz="4000" b="1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constraints </a:t>
            </a: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on symbol ground</a:t>
            </a: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ing in interacting neural agents</a:t>
            </a:r>
            <a:endParaRPr lang="en-GB" sz="4000" b="0" i="0" u="none" strike="noStrike" cap="none" spc="0">
              <a:solidFill>
                <a:srgbClr val="000000"/>
              </a:solidFill>
              <a:latin typeface="Liberation Sans"/>
              <a:ea typeface="Liberation Sans"/>
              <a:cs typeface="Liberation Sans"/>
            </a:endParaRPr>
          </a:p>
          <a:p>
            <a:pPr marL="526195" indent="-526195">
              <a:buFont typeface="Arial"/>
              <a:buChar char="•"/>
              <a:defRPr/>
            </a:pP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Investigate the</a:t>
            </a:r>
            <a:r>
              <a:rPr lang="en-GB" sz="4000" b="1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role of scene complex</a:t>
            </a:r>
            <a:r>
              <a:rPr lang="en-GB" sz="4000" b="1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ity</a:t>
            </a: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, </a:t>
            </a:r>
            <a:r>
              <a:rPr lang="en-GB" sz="4000" b="1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discriminating features present</a:t>
            </a: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,</a:t>
            </a:r>
            <a:r>
              <a:rPr lang="de-DE"/>
              <a:t> </a:t>
            </a: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and </a:t>
            </a:r>
            <a:r>
              <a:rPr lang="en-GB" sz="4000" b="1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message space</a:t>
            </a: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on emergent lan</a:t>
            </a: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guages</a:t>
            </a:r>
            <a:endParaRPr lang="en-GB" sz="4000" b="0" i="0" u="none" strike="noStrike" cap="none" spc="0">
              <a:solidFill>
                <a:srgbClr val="000000"/>
              </a:solidFill>
              <a:latin typeface="Liberation Sans"/>
              <a:ea typeface="Liberation Sans"/>
              <a:cs typeface="Liberation Sans"/>
            </a:endParaRPr>
          </a:p>
        </p:txBody>
      </p:sp>
      <p:pic>
        <p:nvPicPr>
          <p:cNvPr id="316695439" name=""/>
          <p:cNvPicPr/>
          <p:nvPr/>
        </p:nvPicPr>
        <p:blipFill>
          <a:blip r:embed="rId6">
            <a:alphaModFix amt="100000"/>
            <a:lum bright="0" contrast="0"/>
          </a:blip>
          <a:stretch/>
        </p:blipFill>
        <p:spPr bwMode="auto">
          <a:xfrm flipH="0" flipV="0">
            <a:off x="4506129" y="20294599"/>
            <a:ext cx="7727870" cy="5181599"/>
          </a:xfrm>
          <a:prstGeom prst="rect">
            <a:avLst/>
          </a:prstGeom>
          <a:ln>
            <a:noFill/>
          </a:ln>
          <a:effectLst/>
        </p:spPr>
      </p:pic>
      <p:grpSp>
        <p:nvGrpSpPr>
          <p:cNvPr id="21684335" name=""/>
          <p:cNvGrpSpPr/>
          <p:nvPr/>
        </p:nvGrpSpPr>
        <p:grpSpPr bwMode="auto">
          <a:xfrm flipH="0" flipV="0">
            <a:off x="10690691" y="8150201"/>
            <a:ext cx="8892707" cy="9776693"/>
            <a:chOff x="0" y="0"/>
            <a:chExt cx="8892707" cy="9776693"/>
          </a:xfrm>
        </p:grpSpPr>
        <p:sp>
          <p:nvSpPr>
            <p:cNvPr id="1765351502" name=""/>
            <p:cNvSpPr/>
            <p:nvPr/>
          </p:nvSpPr>
          <p:spPr bwMode="auto">
            <a:xfrm flipH="0" flipV="0">
              <a:off x="0" y="533444"/>
              <a:ext cx="8892707" cy="9243248"/>
            </a:xfrm>
            <a:prstGeom prst="rect">
              <a:avLst/>
            </a:prstGeom>
            <a:noFill/>
            <a:ln w="0">
              <a:solidFill>
                <a:srgbClr val="000000"/>
              </a:solidFill>
            </a:ln>
            <a:effectLst/>
          </p:spPr>
          <p:txBody>
            <a:bodyPr lIns="89992" tIns="44995" rIns="89992" bIns="44995" anchor="ctr"/>
            <a:p>
              <a:pPr>
                <a:defRPr/>
              </a:pPr>
              <a:endParaRPr/>
            </a:p>
          </p:txBody>
        </p:sp>
        <p:sp>
          <p:nvSpPr>
            <p:cNvPr id="1606445936" name=""/>
            <p:cNvSpPr txBox="1"/>
            <p:nvPr/>
          </p:nvSpPr>
          <p:spPr bwMode="auto">
            <a:xfrm flipH="0" flipV="0">
              <a:off x="172693" y="0"/>
              <a:ext cx="4949193" cy="91331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lIns="89992" tIns="44995" rIns="89992" bIns="44995">
              <a:spAutoFit/>
            </a:bodyPr>
            <a:lstStyle/>
            <a:p>
              <a:pPr>
                <a:defRPr/>
              </a:pPr>
              <a:r>
                <a:rPr lang="de-DE" sz="5400" b="1" strike="noStrike" cap="small">
                  <a:latin typeface="Liberation Serif"/>
                </a:rPr>
                <a:t>Architecture</a:t>
              </a:r>
              <a:endParaRPr sz="5400"/>
            </a:p>
          </p:txBody>
        </p:sp>
      </p:grpSp>
      <p:grpSp>
        <p:nvGrpSpPr>
          <p:cNvPr id="184360477" name=""/>
          <p:cNvGrpSpPr/>
          <p:nvPr/>
        </p:nvGrpSpPr>
        <p:grpSpPr bwMode="auto">
          <a:xfrm flipH="0" flipV="0">
            <a:off x="1432391" y="8168047"/>
            <a:ext cx="8892707" cy="9776691"/>
            <a:chOff x="0" y="0"/>
            <a:chExt cx="8892707" cy="9776691"/>
          </a:xfrm>
        </p:grpSpPr>
        <p:sp>
          <p:nvSpPr>
            <p:cNvPr id="101002424" name=""/>
            <p:cNvSpPr/>
            <p:nvPr/>
          </p:nvSpPr>
          <p:spPr bwMode="auto">
            <a:xfrm flipH="0" flipV="0">
              <a:off x="0" y="533443"/>
              <a:ext cx="8892707" cy="9243248"/>
            </a:xfrm>
            <a:prstGeom prst="rect">
              <a:avLst/>
            </a:prstGeom>
            <a:noFill/>
            <a:ln w="0">
              <a:solidFill>
                <a:srgbClr val="000000"/>
              </a:solidFill>
            </a:ln>
            <a:effectLst/>
          </p:spPr>
          <p:txBody>
            <a:bodyPr lIns="89992" tIns="44995" rIns="89992" bIns="44995" anchor="ctr"/>
            <a:p>
              <a:pPr>
                <a:defRPr/>
              </a:pPr>
              <a:endParaRPr/>
            </a:p>
          </p:txBody>
        </p:sp>
        <p:sp>
          <p:nvSpPr>
            <p:cNvPr id="1269192990" name=""/>
            <p:cNvSpPr txBox="1"/>
            <p:nvPr/>
          </p:nvSpPr>
          <p:spPr bwMode="auto">
            <a:xfrm flipH="0" flipV="0">
              <a:off x="172692" y="0"/>
              <a:ext cx="1901194" cy="91331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lIns="89992" tIns="44995" rIns="89992" bIns="44995">
              <a:spAutoFit/>
            </a:bodyPr>
            <a:lstStyle/>
            <a:p>
              <a:pPr>
                <a:defRPr/>
              </a:pPr>
              <a:r>
                <a:rPr lang="en-GB" sz="5400" b="1" strike="noStrike" cap="small">
                  <a:latin typeface="Liberation Serif"/>
                </a:rPr>
                <a:t>A</a:t>
              </a:r>
              <a:r>
                <a:rPr lang="de-DE" sz="5400" b="1" strike="noStrike" cap="small">
                  <a:latin typeface="Liberation Serif"/>
                </a:rPr>
                <a:t>ims</a:t>
              </a:r>
              <a:endParaRPr sz="5400"/>
            </a:p>
          </p:txBody>
        </p:sp>
      </p:grpSp>
      <p:grpSp>
        <p:nvGrpSpPr>
          <p:cNvPr id="1597280520" name=""/>
          <p:cNvGrpSpPr/>
          <p:nvPr/>
        </p:nvGrpSpPr>
        <p:grpSpPr bwMode="auto">
          <a:xfrm flipH="0" flipV="0">
            <a:off x="19937514" y="8168407"/>
            <a:ext cx="8892707" cy="9776691"/>
            <a:chOff x="0" y="0"/>
            <a:chExt cx="8892707" cy="9776691"/>
          </a:xfrm>
        </p:grpSpPr>
        <p:sp>
          <p:nvSpPr>
            <p:cNvPr id="1649300553" name=""/>
            <p:cNvSpPr/>
            <p:nvPr/>
          </p:nvSpPr>
          <p:spPr bwMode="auto">
            <a:xfrm flipH="0" flipV="0">
              <a:off x="0" y="533443"/>
              <a:ext cx="8892707" cy="9243248"/>
            </a:xfrm>
            <a:prstGeom prst="rect">
              <a:avLst/>
            </a:prstGeom>
            <a:noFill/>
            <a:ln w="0">
              <a:solidFill>
                <a:srgbClr val="000000"/>
              </a:solidFill>
            </a:ln>
            <a:effectLst/>
          </p:spPr>
          <p:txBody>
            <a:bodyPr lIns="89992" tIns="44995" rIns="89992" bIns="44995" anchor="ctr"/>
            <a:p>
              <a:pPr>
                <a:defRPr/>
              </a:pPr>
              <a:endParaRPr/>
            </a:p>
          </p:txBody>
        </p:sp>
        <p:sp>
          <p:nvSpPr>
            <p:cNvPr id="576284473" name=""/>
            <p:cNvSpPr txBox="1"/>
            <p:nvPr/>
          </p:nvSpPr>
          <p:spPr bwMode="auto">
            <a:xfrm flipH="0" flipV="0">
              <a:off x="172692" y="0"/>
              <a:ext cx="4008171" cy="91331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lIns="89992" tIns="44995" rIns="89992" bIns="44995">
              <a:spAutoFit/>
            </a:bodyPr>
            <a:lstStyle/>
            <a:p>
              <a:pPr>
                <a:defRPr/>
              </a:pPr>
              <a:r>
                <a:rPr lang="de-DE" sz="5400" b="1" strike="noStrike" cap="small">
                  <a:latin typeface="Liberation Serif"/>
                </a:rPr>
                <a:t>Conclusion</a:t>
              </a:r>
              <a:endParaRPr sz="5400"/>
            </a:p>
          </p:txBody>
        </p:sp>
      </p:grpSp>
      <p:pic>
        <p:nvPicPr>
          <p:cNvPr id="1531159627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10841272" y="10502481"/>
            <a:ext cx="8580975" cy="5910147"/>
          </a:xfrm>
          <a:prstGeom prst="rect">
            <a:avLst/>
          </a:prstGeom>
        </p:spPr>
      </p:pic>
      <p:sp>
        <p:nvSpPr>
          <p:cNvPr id="410206753" name=""/>
          <p:cNvSpPr txBox="1"/>
          <p:nvPr/>
        </p:nvSpPr>
        <p:spPr bwMode="auto">
          <a:xfrm flipH="0" flipV="0">
            <a:off x="20197884" y="9209228"/>
            <a:ext cx="8286419" cy="8049838"/>
          </a:xfrm>
          <a:prstGeom prst="rect">
            <a:avLst/>
          </a:prstGeom>
          <a:noFill/>
          <a:ln>
            <a:noFill/>
          </a:ln>
          <a:effectLst/>
        </p:spPr>
        <p:txBody>
          <a:bodyPr lIns="89992" tIns="44995" rIns="89992" bIns="44995" anchor="ctr">
            <a:spAutoFit/>
          </a:bodyPr>
          <a:lstStyle/>
          <a:p>
            <a:pPr marL="526194" indent="-526194">
              <a:buFont typeface="Arial"/>
              <a:buChar char="•"/>
              <a:defRPr/>
            </a:pPr>
            <a:r>
              <a:rPr lang="en-GB" sz="4000" b="1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Medium vocabularies</a:t>
            </a: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(|V| ∈ {10, 16})</a:t>
            </a:r>
            <a:r>
              <a:rPr lang="de-DE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lang="de-DE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and message lengths (n ∈ {2, 4}) per</a:t>
            </a:r>
            <a:r>
              <a:rPr lang="de-DE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form best</a:t>
            </a:r>
            <a:endParaRPr lang="de-DE" sz="4000" b="0" i="0" u="none" strike="noStrike" cap="none" spc="0">
              <a:solidFill>
                <a:srgbClr val="000000"/>
              </a:solidFill>
              <a:latin typeface="Liberation Sans"/>
              <a:ea typeface="Liberation Sans"/>
              <a:cs typeface="Liberation Sans"/>
            </a:endParaRPr>
          </a:p>
          <a:p>
            <a:pPr marL="526195" indent="-526195">
              <a:buFont typeface="Arial"/>
              <a:buChar char="•"/>
              <a:defRPr/>
            </a:pP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Scene complexity (number of distrac</a:t>
            </a: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tors, number of features) dramatically</a:t>
            </a:r>
            <a:r>
              <a:rPr lang="de-DE" sz="4000" b="0" i="0" u="none" strike="noStrike" cap="none" spc="0">
                <a:solidFill>
                  <a:srgbClr val="000000"/>
                </a:solidFill>
                <a:latin typeface="Liberation Sans"/>
                <a:cs typeface="Liberation Sans"/>
              </a:rPr>
              <a:t> </a:t>
            </a: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impacts</a:t>
            </a:r>
            <a:r>
              <a:rPr lang="de-DE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c</a:t>
            </a: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ommunication success</a:t>
            </a:r>
            <a:endParaRPr/>
          </a:p>
          <a:p>
            <a:pPr marL="526195" indent="-526195">
              <a:buFont typeface="Arial"/>
              <a:buChar char="•"/>
              <a:defRPr/>
            </a:pPr>
            <a:r>
              <a:rPr lang="en-GB" sz="4000" b="1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Shape</a:t>
            </a: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attributes </a:t>
            </a:r>
            <a:r>
              <a:rPr lang="en-GB" sz="4000" b="1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easiest </a:t>
            </a: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to learn, </a:t>
            </a:r>
            <a:r>
              <a:rPr lang="en-GB" sz="4000" b="1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size</a:t>
            </a:r>
            <a:r>
              <a:rPr lang="de-DE" sz="4000" b="1" i="0" u="none" strike="noStrike" cap="none" spc="0">
                <a:solidFill>
                  <a:srgbClr val="000000"/>
                </a:solidFill>
                <a:latin typeface="Liberation Sans"/>
                <a:cs typeface="Liberation Sans"/>
              </a:rPr>
              <a:t> </a:t>
            </a: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attributes </a:t>
            </a:r>
            <a:r>
              <a:rPr lang="en-GB" sz="4000" b="1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most challenging</a:t>
            </a:r>
            <a:endParaRPr sz="4000" b="1" i="0" u="none" strike="noStrike" cap="none" spc="0">
              <a:solidFill>
                <a:srgbClr val="000000"/>
              </a:solidFill>
              <a:latin typeface="Liberation Sans"/>
              <a:ea typeface="Liberation Sans"/>
              <a:cs typeface="Liberation Sans"/>
            </a:endParaRPr>
          </a:p>
          <a:p>
            <a:pPr marL="526195" indent="-526195">
              <a:buFont typeface="Arial"/>
              <a:buChar char="•"/>
              <a:defRPr/>
            </a:pP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Future: Analyze linguistic </a:t>
            </a:r>
            <a:r>
              <a:rPr lang="de-DE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p</a:t>
            </a: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roperties of</a:t>
            </a:r>
            <a:r>
              <a:rPr lang="de-DE" sz="4000" b="0" i="0" u="none" strike="noStrike" cap="none" spc="0">
                <a:solidFill>
                  <a:srgbClr val="000000"/>
                </a:solidFill>
                <a:latin typeface="Liberation Sans"/>
                <a:cs typeface="Liberation Sans"/>
              </a:rPr>
              <a:t> </a:t>
            </a:r>
            <a:r>
              <a:rPr lang="en-GB" sz="4000" b="0" i="0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emergent languages</a:t>
            </a:r>
            <a:endParaRPr lang="en-GB" sz="4000" b="0" i="0" u="none" strike="noStrike" cap="none" spc="0">
              <a:solidFill>
                <a:srgbClr val="000000"/>
              </a:solidFill>
              <a:latin typeface="Liberation Sans"/>
              <a:cs typeface="Liberation Sans"/>
            </a:endParaRPr>
          </a:p>
        </p:txBody>
      </p:sp>
      <p:pic>
        <p:nvPicPr>
          <p:cNvPr id="715971263" name="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 flipH="0" flipV="0">
            <a:off x="20997799" y="20358450"/>
            <a:ext cx="7676623" cy="5117748"/>
          </a:xfrm>
          <a:prstGeom prst="rect">
            <a:avLst/>
          </a:prstGeom>
        </p:spPr>
      </p:pic>
      <p:sp>
        <p:nvSpPr>
          <p:cNvPr id="1953644601" name=""/>
          <p:cNvSpPr txBox="1"/>
          <p:nvPr/>
        </p:nvSpPr>
        <p:spPr bwMode="auto">
          <a:xfrm rot="0" flipH="0" flipV="0">
            <a:off x="1337400" y="41206799"/>
            <a:ext cx="12421319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de-DE" sz="2800"/>
              <a:t>16th International Conference on Computational Semantics (IWCS 2025)</a:t>
            </a:r>
            <a:endParaRPr sz="2800"/>
          </a:p>
        </p:txBody>
      </p:sp>
      <p:pic>
        <p:nvPicPr>
          <p:cNvPr id="207079131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>
            <a:off x="25184099" y="40919400"/>
            <a:ext cx="3429000" cy="1000125"/>
          </a:xfrm>
          <a:prstGeom prst="rect">
            <a:avLst/>
          </a:prstGeom>
        </p:spPr>
      </p:pic>
      <p:sp>
        <p:nvSpPr>
          <p:cNvPr id="1464513698" name=""/>
          <p:cNvSpPr txBox="1"/>
          <p:nvPr/>
        </p:nvSpPr>
        <p:spPr bwMode="auto">
          <a:xfrm rot="0" flipH="0" flipV="0">
            <a:off x="14460396" y="19305087"/>
            <a:ext cx="4196399" cy="913311"/>
          </a:xfrm>
          <a:prstGeom prst="rect">
            <a:avLst/>
          </a:prstGeom>
          <a:noFill/>
          <a:ln>
            <a:noFill/>
          </a:ln>
          <a:effectLst/>
        </p:spPr>
        <p:txBody>
          <a:bodyPr lIns="89992" tIns="44995" rIns="89992" bIns="44995">
            <a:spAutoFit/>
          </a:bodyPr>
          <a:lstStyle/>
          <a:p>
            <a:pPr algn="ctr">
              <a:defRPr/>
            </a:pPr>
            <a:r>
              <a:rPr sz="5400" b="1" strike="noStrike">
                <a:latin typeface="Liberation Serif"/>
              </a:rPr>
              <a:t>Dale</a:t>
            </a:r>
            <a:r>
              <a:rPr lang="de-DE" sz="5400" b="1" strike="noStrike">
                <a:latin typeface="Liberation Serif"/>
              </a:rPr>
              <a:t>-5</a:t>
            </a:r>
            <a:endParaRPr sz="5400"/>
          </a:p>
        </p:txBody>
      </p:sp>
      <p:sp>
        <p:nvSpPr>
          <p:cNvPr id="42616494" name=""/>
          <p:cNvSpPr txBox="1"/>
          <p:nvPr/>
        </p:nvSpPr>
        <p:spPr bwMode="auto">
          <a:xfrm rot="0" flipH="0" flipV="0">
            <a:off x="22605420" y="19305087"/>
            <a:ext cx="4461381" cy="913311"/>
          </a:xfrm>
          <a:prstGeom prst="rect">
            <a:avLst/>
          </a:prstGeom>
          <a:noFill/>
          <a:ln>
            <a:noFill/>
          </a:ln>
          <a:effectLst/>
        </p:spPr>
        <p:txBody>
          <a:bodyPr lIns="89992" tIns="44995" rIns="89992" bIns="44995">
            <a:spAutoFit/>
          </a:bodyPr>
          <a:lstStyle/>
          <a:p>
            <a:pPr algn="ctr">
              <a:defRPr/>
            </a:pPr>
            <a:r>
              <a:rPr lang="de-DE" sz="5400" b="1" strike="noStrike">
                <a:latin typeface="Liberation Serif"/>
              </a:rPr>
              <a:t>CLEVR Color</a:t>
            </a:r>
            <a:endParaRPr sz="5400"/>
          </a:p>
        </p:txBody>
      </p:sp>
      <p:pic>
        <p:nvPicPr>
          <p:cNvPr id="182970423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flipH="0" flipV="0">
            <a:off x="20997799" y="34316792"/>
            <a:ext cx="7886206" cy="6144219"/>
          </a:xfrm>
          <a:prstGeom prst="rect">
            <a:avLst/>
          </a:prstGeom>
        </p:spPr>
      </p:pic>
      <p:pic>
        <p:nvPicPr>
          <p:cNvPr id="1399311798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flipH="0" flipV="0">
            <a:off x="4426165" y="34142504"/>
            <a:ext cx="8040197" cy="6264194"/>
          </a:xfrm>
          <a:prstGeom prst="rect">
            <a:avLst/>
          </a:prstGeom>
        </p:spPr>
      </p:pic>
      <p:pic>
        <p:nvPicPr>
          <p:cNvPr id="1109880375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12771656" y="34392992"/>
            <a:ext cx="7886206" cy="6144219"/>
          </a:xfrm>
          <a:prstGeom prst="rect">
            <a:avLst/>
          </a:prstGeom>
        </p:spPr>
      </p:pic>
      <p:graphicFrame>
        <p:nvGraphicFramePr>
          <p:cNvPr id="1863437106" name=""/>
          <p:cNvGraphicFramePr>
            <a:graphicFrameLocks xmlns:a="http://schemas.openxmlformats.org/drawingml/2006/main"/>
          </p:cNvGraphicFramePr>
          <p:nvPr/>
        </p:nvGraphicFramePr>
        <p:xfrm>
          <a:off x="1560304" y="26500199"/>
          <a:ext cx="26923999" cy="6515099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{7E9639D4-E3E2-4D34-9284-5A2195B3D0D7}</a:tableStyleId>
              </a:tblPr>
              <a:tblGrid>
                <a:gridCol w="2340000"/>
                <a:gridCol w="8460000"/>
                <a:gridCol w="8280000"/>
                <a:gridCol w="7843999"/>
              </a:tblGrid>
              <a:tr h="1259119"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de-DE" sz="3600" b="1"/>
                        <a:t>Overall accuracy</a:t>
                      </a:r>
                      <a:endParaRPr sz="3600" b="1"/>
                    </a:p>
                  </a:txBody>
                  <a:tcPr anchor="ctr">
                    <a:lnL w="6349" algn="ctr">
                      <a:solidFill>
                        <a:srgbClr val="000000"/>
                      </a:solidFill>
                    </a:lnL>
                    <a:lnR w="6349" algn="ctr">
                      <a:solidFill>
                        <a:srgbClr val="000000"/>
                      </a:solidFill>
                    </a:lnR>
                    <a:lnT w="634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de-DE" sz="3600"/>
                        <a:t>99%</a:t>
                      </a:r>
                      <a:endParaRPr sz="3600"/>
                    </a:p>
                  </a:txBody>
                  <a:tcPr anchor="ctr">
                    <a:lnL w="6349" algn="ctr">
                      <a:solidFill>
                        <a:srgbClr val="000000"/>
                      </a:solidFill>
                    </a:lnL>
                    <a:lnR w="6349" algn="ctr">
                      <a:solidFill>
                        <a:srgbClr val="000000"/>
                      </a:solidFill>
                    </a:lnR>
                    <a:lnT w="634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de-DE" sz="3600"/>
                        <a:t>69%</a:t>
                      </a:r>
                      <a:endParaRPr sz="3600"/>
                    </a:p>
                  </a:txBody>
                  <a:tcPr anchor="ctr">
                    <a:lnL w="6349" algn="ctr">
                      <a:solidFill>
                        <a:srgbClr val="000000"/>
                      </a:solidFill>
                    </a:lnL>
                    <a:lnR w="6349" algn="ctr">
                      <a:solidFill>
                        <a:srgbClr val="000000"/>
                      </a:solidFill>
                    </a:lnR>
                    <a:lnT w="634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de-DE" sz="3600"/>
                        <a:t>93%</a:t>
                      </a:r>
                      <a:endParaRPr sz="3600"/>
                    </a:p>
                  </a:txBody>
                  <a:tcPr anchor="ctr">
                    <a:lnL w="6349" algn="ctr">
                      <a:solidFill>
                        <a:srgbClr val="000000"/>
                      </a:solidFill>
                    </a:lnL>
                    <a:lnR w="6349" algn="ctr">
                      <a:solidFill>
                        <a:srgbClr val="000000"/>
                      </a:solidFill>
                    </a:lnR>
                    <a:lnT w="634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  <a:tr h="1377373"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de-DE" sz="3600" b="1"/>
                        <a:t>F1 score</a:t>
                      </a:r>
                      <a:endParaRPr sz="3600" b="1"/>
                    </a:p>
                  </a:txBody>
                  <a:tcPr anchor="ctr">
                    <a:lnL w="6349" algn="ctr">
                      <a:solidFill>
                        <a:srgbClr val="000000"/>
                      </a:solidFill>
                    </a:lnL>
                    <a:lnR w="634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de-DE" sz="3600"/>
                        <a:t>98,57%</a:t>
                      </a:r>
                      <a:endParaRPr sz="3600"/>
                    </a:p>
                  </a:txBody>
                  <a:tcPr anchor="ctr">
                    <a:lnL w="6349" algn="ctr">
                      <a:solidFill>
                        <a:srgbClr val="000000"/>
                      </a:solidFill>
                    </a:lnL>
                    <a:lnR w="634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de-DE" sz="3600"/>
                        <a:t>89,53%</a:t>
                      </a:r>
                      <a:endParaRPr sz="3600"/>
                    </a:p>
                  </a:txBody>
                  <a:tcPr anchor="ctr">
                    <a:lnL w="6349" algn="ctr">
                      <a:solidFill>
                        <a:srgbClr val="000000"/>
                      </a:solidFill>
                    </a:lnL>
                    <a:lnR w="634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de-DE" sz="3600"/>
                        <a:t>95,17%</a:t>
                      </a:r>
                      <a:endParaRPr sz="3600"/>
                    </a:p>
                  </a:txBody>
                  <a:tcPr anchor="ctr">
                    <a:lnL w="6349" algn="ctr">
                      <a:solidFill>
                        <a:srgbClr val="000000"/>
                      </a:solidFill>
                    </a:lnL>
                    <a:lnR w="634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  <a:tr h="1292869"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de-DE" sz="3600" b="1"/>
                        <a:t>Shape Precision</a:t>
                      </a:r>
                      <a:endParaRPr sz="3600" b="1"/>
                    </a:p>
                  </a:txBody>
                  <a:tcPr anchor="ctr">
                    <a:lnL w="6349" algn="ctr">
                      <a:solidFill>
                        <a:srgbClr val="000000"/>
                      </a:solidFill>
                    </a:lnL>
                    <a:lnR w="634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de-DE" sz="3600"/>
                        <a:t>99,75%</a:t>
                      </a:r>
                      <a:endParaRPr sz="3600"/>
                    </a:p>
                  </a:txBody>
                  <a:tcPr anchor="ctr">
                    <a:lnL w="6349" algn="ctr">
                      <a:solidFill>
                        <a:srgbClr val="000000"/>
                      </a:solidFill>
                    </a:lnL>
                    <a:lnR w="634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de-DE" sz="3600"/>
                        <a:t>98,30%</a:t>
                      </a:r>
                      <a:endParaRPr sz="3600"/>
                    </a:p>
                  </a:txBody>
                  <a:tcPr anchor="ctr">
                    <a:lnL w="6349" algn="ctr">
                      <a:solidFill>
                        <a:srgbClr val="000000"/>
                      </a:solidFill>
                    </a:lnL>
                    <a:lnR w="634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de-DE" sz="3600"/>
                        <a:t>100%</a:t>
                      </a:r>
                      <a:endParaRPr sz="3600"/>
                    </a:p>
                  </a:txBody>
                  <a:tcPr anchor="ctr">
                    <a:lnL w="6349" algn="ctr">
                      <a:solidFill>
                        <a:srgbClr val="000000"/>
                      </a:solidFill>
                    </a:lnL>
                    <a:lnR w="634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  <a:tr h="1292869"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de-DE" sz="3600" b="1"/>
                        <a:t>Color Precision</a:t>
                      </a:r>
                      <a:endParaRPr sz="3600" b="1"/>
                    </a:p>
                  </a:txBody>
                  <a:tcPr anchor="ctr">
                    <a:lnL w="6349" algn="ctr">
                      <a:solidFill>
                        <a:srgbClr val="000000"/>
                      </a:solidFill>
                    </a:lnL>
                    <a:lnR w="634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de-DE" sz="3600"/>
                        <a:t>98,09%</a:t>
                      </a:r>
                      <a:endParaRPr sz="3600"/>
                    </a:p>
                  </a:txBody>
                  <a:tcPr anchor="ctr">
                    <a:lnL w="6349" algn="ctr">
                      <a:solidFill>
                        <a:srgbClr val="000000"/>
                      </a:solidFill>
                    </a:lnL>
                    <a:lnR w="634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de-DE" sz="3600"/>
                        <a:t>92,44%</a:t>
                      </a:r>
                      <a:endParaRPr sz="3600"/>
                    </a:p>
                  </a:txBody>
                  <a:tcPr anchor="ctr">
                    <a:lnL w="6349" algn="ctr">
                      <a:solidFill>
                        <a:srgbClr val="000000"/>
                      </a:solidFill>
                    </a:lnL>
                    <a:lnR w="634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de-DE" sz="3600"/>
                        <a:t>92,76%</a:t>
                      </a:r>
                      <a:endParaRPr sz="3600"/>
                    </a:p>
                  </a:txBody>
                  <a:tcPr anchor="ctr">
                    <a:lnL w="6349" algn="ctr">
                      <a:solidFill>
                        <a:srgbClr val="000000"/>
                      </a:solidFill>
                    </a:lnL>
                    <a:lnR w="634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  <a:tr h="1292869"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de-DE" sz="3600" b="1"/>
                        <a:t>Size Precision</a:t>
                      </a:r>
                      <a:endParaRPr sz="3600" b="1"/>
                    </a:p>
                  </a:txBody>
                  <a:tcPr anchor="ctr">
                    <a:lnL w="6349" algn="ctr">
                      <a:solidFill>
                        <a:srgbClr val="000000"/>
                      </a:solidFill>
                    </a:lnL>
                    <a:lnR w="634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634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de-DE" sz="3600"/>
                        <a:t>98,73%</a:t>
                      </a:r>
                      <a:endParaRPr sz="3600"/>
                    </a:p>
                  </a:txBody>
                  <a:tcPr anchor="ctr">
                    <a:lnL w="6349" algn="ctr">
                      <a:solidFill>
                        <a:srgbClr val="000000"/>
                      </a:solidFill>
                    </a:lnL>
                    <a:lnR w="634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634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de-DE" sz="3600"/>
                        <a:t>69,43%</a:t>
                      </a:r>
                      <a:endParaRPr sz="3600"/>
                    </a:p>
                  </a:txBody>
                  <a:tcPr anchor="ctr">
                    <a:lnL w="6349" algn="ctr">
                      <a:solidFill>
                        <a:srgbClr val="000000"/>
                      </a:solidFill>
                    </a:lnL>
                    <a:lnR w="634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634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de-DE" sz="3600"/>
                        <a:t>N/A (not used)</a:t>
                      </a:r>
                      <a:endParaRPr sz="3600"/>
                    </a:p>
                  </a:txBody>
                  <a:tcPr anchor="ctr">
                    <a:lnL w="6349" algn="ctr">
                      <a:solidFill>
                        <a:srgbClr val="000000"/>
                      </a:solidFill>
                    </a:lnL>
                    <a:lnR w="634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6349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12748204" name=""/>
          <p:cNvSpPr txBox="1"/>
          <p:nvPr/>
        </p:nvSpPr>
        <p:spPr bwMode="auto">
          <a:xfrm flipH="0" flipV="0">
            <a:off x="1931734" y="33229192"/>
            <a:ext cx="12029005" cy="91331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lIns="89992" tIns="44995" rIns="89992" bIns="44995">
            <a:spAutoFit/>
          </a:bodyPr>
          <a:lstStyle/>
          <a:p>
            <a:pPr>
              <a:defRPr/>
            </a:pPr>
            <a:r>
              <a:rPr lang="de-DE" sz="5400" b="1" strike="noStrike" cap="small">
                <a:latin typeface="Liberation Serif"/>
              </a:rPr>
              <a:t>Sender and Receiver in Interaction</a:t>
            </a:r>
            <a:endParaRPr sz="5400"/>
          </a:p>
        </p:txBody>
      </p:sp>
      <p:sp>
        <p:nvSpPr>
          <p:cNvPr id="1306445905" name=""/>
          <p:cNvSpPr txBox="1"/>
          <p:nvPr/>
        </p:nvSpPr>
        <p:spPr bwMode="auto">
          <a:xfrm flipH="0" flipV="0">
            <a:off x="1895073" y="25841590"/>
            <a:ext cx="12017124" cy="91331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lIns="89992" tIns="44995" rIns="89992" bIns="44995">
            <a:spAutoFit/>
          </a:bodyPr>
          <a:lstStyle/>
          <a:p>
            <a:pPr>
              <a:defRPr/>
            </a:pPr>
            <a:r>
              <a:rPr lang="de-DE" sz="5400" b="1" strike="noStrike" cap="small">
                <a:latin typeface="Liberation Serif"/>
              </a:rPr>
              <a:t>Sender in supervised generation</a:t>
            </a:r>
            <a:endParaRPr sz="5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Standard">
  <a:themeElements>
    <a:clrScheme name="Standard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tandard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ONLYOFFICE/9.0.4.50</Application>
  <PresentationFormat>On-screen Show (4:3)</PresentationFormat>
  <Paragraphs>0</Paragraphs>
  <Slides>1</Slides>
  <Notes>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Theme 1</vt:lpstr>
      <vt:lpstr>Slide 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  <cp:revision>2</cp:revision>
  <dcterms:modified xsi:type="dcterms:W3CDTF">2025-08-26T21:38:54Z</dcterms:modified>
</cp:coreProperties>
</file>