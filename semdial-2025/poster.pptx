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3625" cy="42800588"/>
  <p:notesSz cx="6858000" cy="9144000"/>
  <p:defaultTextStyle>
    <a:defPPr/>
  </p:defaultTextStyle>
  <p:extLst>
    <p:ext uri="{EFAFB233-063F-42B5-8137-9DF3F51BA10A}">
      <p15:sldGuideLst xmlns:p15="http://schemas.microsoft.com/office/powerpoint/2012/main">
        <p15:guide id="1" pos="9535">
          <p15:clr>
            <a:srgbClr val="A4A3A4"/>
          </p15:clr>
        </p15:guide>
        <p15:guide id="2" orient="horz" pos="13480">
          <p15:clr>
            <a:srgbClr val="A4A3A4"/>
          </p15:clr>
        </p15:guide>
        <p15:guide id="3" pos="6626">
          <p15:clr>
            <a:srgbClr val="A4A3A4"/>
          </p15:clr>
        </p15:guide>
        <p15:guide id="4" pos="12434">
          <p15:clr>
            <a:srgbClr val="A4A3A4"/>
          </p15:clr>
        </p15:guide>
        <p15:guide id="5" pos="794">
          <p15:clr>
            <a:srgbClr val="A4A3A4"/>
          </p15:clr>
        </p15:guide>
        <p15:guide id="6" pos="1829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9639D4-E3E2-4D34-9284-5A2195B3D0D7}">
  <a:tblStyle styleId="{7E9639D4-E3E2-4D34-9284-5A2195B3D0D7}" styleName="Light Style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</a:tcBdr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249"/>
    <p:restoredTop sz="96489"/>
  </p:normalViewPr>
  <p:slideViewPr>
    <p:cSldViewPr>
      <p:cViewPr>
        <p:scale>
          <a:sx n="25" d="100"/>
          <a:sy n="25" d="100"/>
        </p:scale>
        <p:origin x="1752" y="-40"/>
      </p:cViewPr>
      <p:guideLst>
        <p:guide pos="9535"/>
        <p:guide orient="horz" pos="13480"/>
        <p:guide pos="6626"/>
        <p:guide pos="12434"/>
        <p:guide pos="794"/>
        <p:guide pos="182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5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624700" name="Notizenplatzhalter 1494624699"/>
          <p:cNvSpPr txBox="1">
            <a:spLocks noGrp="1"/>
          </p:cNvSpPr>
          <p:nvPr>
            <p:ph type="body" idx="4294967295"/>
          </p:nvPr>
        </p:nvSpPr>
        <p:spPr bwMode="auto">
          <a:xfrm>
            <a:off x="755951" y="5078200"/>
            <a:ext cx="6047259" cy="4810736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Stand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82059" name="place_holder"/>
          <p:cNvSpPr txBox="1">
            <a:spLocks noGrp="1"/>
          </p:cNvSpPr>
          <p:nvPr>
            <p:ph type="title" idx="4294967295"/>
          </p:nvPr>
        </p:nvSpPr>
        <p:spPr bwMode="auto">
          <a:xfrm>
            <a:off x="740833" y="627440"/>
            <a:ext cx="8607777" cy="1262440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444921" name="place_holder"/>
          <p:cNvSpPr txBox="1">
            <a:spLocks noGrp="1"/>
          </p:cNvSpPr>
          <p:nvPr>
            <p:ph type="body" idx="4294967295"/>
          </p:nvPr>
        </p:nvSpPr>
        <p:spPr bwMode="auto">
          <a:xfrm>
            <a:off x="740833" y="2101547"/>
            <a:ext cx="8607777" cy="4762500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4763692" name="Datumsplatzhalter 1944763691"/>
          <p:cNvSpPr txBox="1">
            <a:spLocks noGrp="1"/>
          </p:cNvSpPr>
          <p:nvPr>
            <p:ph type="dt" sz="half" idx="1"/>
          </p:nvPr>
        </p:nvSpPr>
        <p:spPr bwMode="auto">
          <a:xfrm>
            <a:off x="2809263" y="38103239"/>
            <a:ext cx="6382037" cy="2799903"/>
          </a:xfrm>
        </p:spPr>
        <p:txBody>
          <a:bodyPr anchor="t"/>
          <a:lstStyle/>
          <a:p>
            <a:pPr>
              <a:defRPr/>
            </a:pPr>
            <a:fld id="{1D1B89AE-8D35-4BB5-B492-6D9BE4F23A39}" type="datetime1">
              <a:rPr lang="de-DE"/>
              <a:t>28.08.25</a:t>
            </a:fld>
            <a:endParaRPr sz="2000"/>
          </a:p>
        </p:txBody>
      </p:sp>
      <p:sp>
        <p:nvSpPr>
          <p:cNvPr id="61828394" name="Fußzeilenplatzhalter 61828393"/>
          <p:cNvSpPr txBox="1">
            <a:spLocks noGrp="1"/>
          </p:cNvSpPr>
          <p:nvPr>
            <p:ph type="ftr" sz="quarter" idx="2"/>
          </p:nvPr>
        </p:nvSpPr>
        <p:spPr bwMode="auto">
          <a:xfrm>
            <a:off x="10808679" y="38103239"/>
            <a:ext cx="8683013" cy="2799903"/>
          </a:xfrm>
        </p:spPr>
        <p:txBody>
          <a:bodyPr anchor="t"/>
          <a:lstStyle/>
          <a:p>
            <a:pPr algn="ctr">
              <a:defRPr sz="1400" strike="noStrike"/>
            </a:pPr>
            <a:endParaRPr/>
          </a:p>
        </p:txBody>
      </p:sp>
      <p:sp>
        <p:nvSpPr>
          <p:cNvPr id="2008872834" name="Foliennummernplatzhalter 2008872833"/>
          <p:cNvSpPr txBox="1">
            <a:spLocks noGrp="1"/>
          </p:cNvSpPr>
          <p:nvPr>
            <p:ph type="sldNum" sz="quarter" idx="3"/>
          </p:nvPr>
        </p:nvSpPr>
        <p:spPr bwMode="auto">
          <a:xfrm>
            <a:off x="21081351" y="38103239"/>
            <a:ext cx="6382037" cy="2799903"/>
          </a:xfrm>
        </p:spPr>
        <p:txBody>
          <a:bodyPr anchor="t"/>
          <a:lstStyle/>
          <a:p>
            <a:pPr algn="r">
              <a:defRPr sz="1400" strike="noStrike"/>
            </a:pPr>
            <a:fld id="{5CC2A059-B141-45A7-B910-B096D6D06820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93294" name="Titelplatzhalter 204293293"/>
          <p:cNvSpPr txBox="1">
            <a:spLocks noGrp="1"/>
          </p:cNvSpPr>
          <p:nvPr>
            <p:ph type="title" idx="4294967295"/>
          </p:nvPr>
        </p:nvSpPr>
        <p:spPr bwMode="auto">
          <a:xfrm>
            <a:off x="2809263" y="2700189"/>
            <a:ext cx="24654126" cy="678413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>
              <a:defRPr/>
            </a:pPr>
            <a:endParaRPr/>
          </a:p>
        </p:txBody>
      </p:sp>
      <p:sp>
        <p:nvSpPr>
          <p:cNvPr id="1726383724" name="Textplatzhalter 1726383723"/>
          <p:cNvSpPr txBox="1">
            <a:spLocks noGrp="1"/>
          </p:cNvSpPr>
          <p:nvPr>
            <p:ph type="body" idx="4294967295"/>
          </p:nvPr>
        </p:nvSpPr>
        <p:spPr bwMode="auto">
          <a:xfrm>
            <a:off x="2809263" y="10588373"/>
            <a:ext cx="24654126" cy="2356951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pPr>
              <a:defRPr/>
            </a:pPr>
            <a:endParaRPr/>
          </a:p>
        </p:txBody>
      </p:sp>
      <p:sp>
        <p:nvSpPr>
          <p:cNvPr id="677014168" name="Datumsplatzhalter 677014167"/>
          <p:cNvSpPr txBox="1">
            <a:spLocks noGrp="1"/>
          </p:cNvSpPr>
          <p:nvPr>
            <p:ph type="dt" sz="half" idx="1"/>
          </p:nvPr>
        </p:nvSpPr>
        <p:spPr bwMode="auto">
          <a:xfrm>
            <a:off x="2809263" y="38103239"/>
            <a:ext cx="6382037" cy="2799903"/>
          </a:xfrm>
          <a:prstGeom prst="rect">
            <a:avLst/>
          </a:prstGeom>
          <a:noFill/>
          <a:ln>
            <a:noFill/>
          </a:ln>
          <a:effectLst/>
        </p:spPr>
        <p:txBody>
          <a:bodyPr anchor="t"/>
          <a:lstStyle/>
          <a:p>
            <a:pPr>
              <a:defRPr/>
            </a:pPr>
            <a:fld id="{1D1B89AE-8D35-4BB5-B492-6D9BE4F23A39}" type="datetime1">
              <a:rPr lang="de-DE"/>
              <a:t>28.08.25</a:t>
            </a:fld>
            <a:endParaRPr sz="22950"/>
          </a:p>
        </p:txBody>
      </p:sp>
      <p:sp>
        <p:nvSpPr>
          <p:cNvPr id="735553257" name="Fußzeilenplatzhalter 735553256"/>
          <p:cNvSpPr txBox="1">
            <a:spLocks noGrp="1"/>
          </p:cNvSpPr>
          <p:nvPr>
            <p:ph type="ftr" sz="quarter" idx="2"/>
          </p:nvPr>
        </p:nvSpPr>
        <p:spPr bwMode="auto">
          <a:xfrm>
            <a:off x="10808679" y="38103239"/>
            <a:ext cx="8683013" cy="2799903"/>
          </a:xfrm>
          <a:prstGeom prst="rect">
            <a:avLst/>
          </a:prstGeom>
          <a:noFill/>
          <a:ln>
            <a:noFill/>
          </a:ln>
          <a:effectLst/>
        </p:spPr>
        <p:txBody>
          <a:bodyPr anchor="t"/>
          <a:lstStyle/>
          <a:p>
            <a:pPr>
              <a:defRPr/>
            </a:pPr>
            <a:endParaRPr/>
          </a:p>
        </p:txBody>
      </p:sp>
      <p:sp>
        <p:nvSpPr>
          <p:cNvPr id="1389738030" name="Foliennummernplatzhalter 1389738029"/>
          <p:cNvSpPr txBox="1">
            <a:spLocks noGrp="1"/>
          </p:cNvSpPr>
          <p:nvPr>
            <p:ph type="sldNum" sz="quarter" idx="3"/>
          </p:nvPr>
        </p:nvSpPr>
        <p:spPr bwMode="auto">
          <a:xfrm>
            <a:off x="21081351" y="38103239"/>
            <a:ext cx="6382037" cy="2799903"/>
          </a:xfrm>
          <a:prstGeom prst="rect">
            <a:avLst/>
          </a:prstGeom>
          <a:noFill/>
          <a:ln>
            <a:noFill/>
          </a:ln>
          <a:effectLst/>
        </p:spPr>
        <p:txBody>
          <a:bodyPr anchor="t"/>
          <a:lstStyle/>
          <a:p>
            <a:pPr>
              <a:defRPr/>
            </a:pPr>
            <a:fld id="{5CC2A059-B141-45A7-B910-B096D6D06820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/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page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594130" name="Textfeld 537594129"/>
          <p:cNvSpPr txBox="1"/>
          <p:nvPr/>
        </p:nvSpPr>
        <p:spPr bwMode="auto">
          <a:xfrm>
            <a:off x="2980612" y="4034265"/>
            <a:ext cx="24367225" cy="4031386"/>
          </a:xfrm>
          <a:prstGeom prst="rect">
            <a:avLst/>
          </a:prstGeom>
          <a:noFill/>
          <a:ln>
            <a:noFill/>
          </a:ln>
          <a:effectLst/>
        </p:spPr>
        <p:txBody>
          <a:bodyPr lIns="89993" tIns="44996" rIns="89993" bIns="44996"/>
          <a:lstStyle/>
          <a:p>
            <a:pPr algn="ctr">
              <a:lnSpc>
                <a:spcPct val="114999"/>
              </a:lnSpc>
              <a:defRPr/>
            </a:pPr>
            <a:r>
              <a:rPr lang="en-US" sz="5400" b="1" strike="noStrike" noProof="0" dirty="0">
                <a:latin typeface="Liberation Serif"/>
              </a:rPr>
              <a:t>Dominik Künkele</a:t>
            </a:r>
            <a:r>
              <a:rPr lang="en-US" sz="5400" b="1" strike="noStrike" baseline="30000" noProof="0" dirty="0">
                <a:latin typeface="Liberation Serif"/>
              </a:rPr>
              <a:t>1</a:t>
            </a:r>
            <a:r>
              <a:rPr lang="en-US" sz="5400" strike="noStrike" noProof="0" dirty="0">
                <a:latin typeface="Liberation Serif"/>
              </a:rPr>
              <a:t> and </a:t>
            </a:r>
            <a:r>
              <a:rPr lang="en-US" sz="5400" b="1" strike="noStrike" noProof="0" dirty="0">
                <a:latin typeface="Liberation Serif"/>
              </a:rPr>
              <a:t>Simon Dobnik</a:t>
            </a:r>
            <a:r>
              <a:rPr lang="en-US" sz="5400" b="1" baseline="30000" noProof="0" dirty="0"/>
              <a:t>1,2</a:t>
            </a:r>
            <a:endParaRPr lang="en-US" sz="5400" baseline="30000" noProof="0" dirty="0"/>
          </a:p>
          <a:p>
            <a:pPr algn="ctr">
              <a:defRPr/>
            </a:pPr>
            <a:r>
              <a:rPr lang="en-US" sz="4400" b="0" i="0" u="none" strike="noStrike" cap="none" spc="0" baseline="30000" noProof="0" dirty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1</a:t>
            </a:r>
            <a:r>
              <a:rPr lang="en-US" sz="4400" b="0" i="0" u="none" strike="noStrike" cap="none" spc="0" noProof="0" dirty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Department of Philosophy, Linguistics and Theory of Science</a:t>
            </a:r>
            <a:endParaRPr lang="en-US" sz="4400" b="0" i="0" u="none" strike="noStrike" cap="none" spc="0" noProof="0" dirty="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algn="ctr">
              <a:defRPr/>
            </a:pPr>
            <a:r>
              <a:rPr lang="en-US" sz="4400" b="0" i="0" u="none" strike="noStrike" cap="none" spc="0" noProof="0" dirty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  </a:t>
            </a:r>
            <a:r>
              <a:rPr lang="en-US" sz="4400" b="0" i="0" u="none" strike="noStrike" cap="none" spc="0" baseline="30000" noProof="0" dirty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2</a:t>
            </a:r>
            <a:r>
              <a:rPr lang="en-US" sz="4400" b="0" i="0" u="none" strike="noStrike" cap="none" spc="0" noProof="0" dirty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Centre for Linguistic Theory and Studies in Probability (CLASP)</a:t>
            </a:r>
            <a:endParaRPr lang="en-US" sz="4400" b="0" i="0" u="none" strike="noStrike" cap="none" spc="0" noProof="0" dirty="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algn="ctr">
              <a:lnSpc>
                <a:spcPct val="114999"/>
              </a:lnSpc>
              <a:defRPr/>
            </a:pPr>
            <a:r>
              <a:rPr lang="en-US" sz="4400" strike="noStrike" noProof="0" dirty="0">
                <a:latin typeface="Liberation Serif"/>
              </a:rPr>
              <a:t>University of Gothenburg, Sweden</a:t>
            </a:r>
            <a:endParaRPr lang="en-US" sz="4400" noProof="0" dirty="0"/>
          </a:p>
          <a:p>
            <a:pPr algn="ctr">
              <a:lnSpc>
                <a:spcPct val="114999"/>
              </a:lnSpc>
              <a:defRPr/>
            </a:pPr>
            <a:r>
              <a:rPr lang="en-US" sz="4000" noProof="0" dirty="0" err="1">
                <a:latin typeface="Liberation Mono"/>
              </a:rPr>
              <a:t>contact@dominik-kuenkele.de</a:t>
            </a:r>
            <a:r>
              <a:rPr lang="en-US" sz="4000" noProof="0" dirty="0">
                <a:latin typeface="Liberation Mono"/>
              </a:rPr>
              <a:t> </a:t>
            </a:r>
            <a:r>
              <a:rPr lang="en-US" sz="4000" strike="noStrike" noProof="0" dirty="0" err="1">
                <a:latin typeface="Liberation Mono"/>
              </a:rPr>
              <a:t>simon.dobnik@gu.se</a:t>
            </a:r>
            <a:endParaRPr lang="en-US" sz="4000" noProof="0" dirty="0"/>
          </a:p>
        </p:txBody>
      </p:sp>
      <p:sp>
        <p:nvSpPr>
          <p:cNvPr id="1657876060" name="Textfeld 1657876059"/>
          <p:cNvSpPr txBox="1"/>
          <p:nvPr/>
        </p:nvSpPr>
        <p:spPr bwMode="auto">
          <a:xfrm>
            <a:off x="2953253" y="1554382"/>
            <a:ext cx="24367225" cy="2283696"/>
          </a:xfrm>
          <a:prstGeom prst="rect">
            <a:avLst/>
          </a:prstGeom>
          <a:noFill/>
          <a:ln>
            <a:noFill/>
          </a:ln>
          <a:effectLst/>
        </p:spPr>
        <p:txBody>
          <a:bodyPr lIns="89993" tIns="44996" rIns="89993" bIns="44996"/>
          <a:lstStyle/>
          <a:p>
            <a:pPr algn="ctr">
              <a:defRPr/>
            </a:pPr>
            <a:r>
              <a:rPr lang="en-US" sz="7200" b="1" i="0" u="none" strike="noStrike" cap="none" spc="0" noProof="0" dirty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Learning to Refer: How Scene Complexity Affects</a:t>
            </a:r>
            <a:endParaRPr lang="en-US" sz="7200" b="1" strike="noStrike" noProof="0" dirty="0">
              <a:latin typeface="Liberation Serif"/>
            </a:endParaRPr>
          </a:p>
          <a:p>
            <a:pPr algn="ctr">
              <a:defRPr/>
            </a:pPr>
            <a:r>
              <a:rPr lang="en-US" sz="7200" b="1" i="0" u="none" strike="noStrike" cap="none" spc="0" noProof="0" dirty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Emergent Communication in Neural Agents</a:t>
            </a:r>
            <a:endParaRPr lang="en-US" sz="7200" noProof="0" dirty="0"/>
          </a:p>
        </p:txBody>
      </p:sp>
      <p:sp>
        <p:nvSpPr>
          <p:cNvPr id="1849313519" name="Rechteck 1849313518"/>
          <p:cNvSpPr/>
          <p:nvPr/>
        </p:nvSpPr>
        <p:spPr bwMode="auto">
          <a:xfrm>
            <a:off x="1432391" y="18544887"/>
            <a:ext cx="27397830" cy="2229469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 lIns="89993" tIns="44996" rIns="89993" bIns="44996" anchor="ctr"/>
          <a:lstStyle/>
          <a:p>
            <a:pPr>
              <a:defRPr/>
            </a:pPr>
            <a:endParaRPr lang="en-US" noProof="0"/>
          </a:p>
        </p:txBody>
      </p:sp>
      <p:sp>
        <p:nvSpPr>
          <p:cNvPr id="1122315060" name="Textfeld 1122315059"/>
          <p:cNvSpPr txBox="1"/>
          <p:nvPr/>
        </p:nvSpPr>
        <p:spPr bwMode="auto">
          <a:xfrm>
            <a:off x="1671316" y="18087926"/>
            <a:ext cx="4374286" cy="9133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89993" tIns="44996" rIns="89993" bIns="44996">
            <a:spAutoFit/>
          </a:bodyPr>
          <a:lstStyle/>
          <a:p>
            <a:pPr>
              <a:defRPr/>
            </a:pPr>
            <a:r>
              <a:rPr lang="en-US" sz="5400" b="1" strike="noStrike" cap="small" noProof="0" dirty="0">
                <a:latin typeface="Liberation Serif"/>
              </a:rPr>
              <a:t>Experiments</a:t>
            </a:r>
            <a:endParaRPr lang="en-US" sz="5400" noProof="0" dirty="0"/>
          </a:p>
        </p:txBody>
      </p:sp>
      <p:sp>
        <p:nvSpPr>
          <p:cNvPr id="1148621843" name="Textfeld 1148621842"/>
          <p:cNvSpPr txBox="1"/>
          <p:nvPr/>
        </p:nvSpPr>
        <p:spPr bwMode="auto">
          <a:xfrm>
            <a:off x="6413606" y="18880197"/>
            <a:ext cx="4193159" cy="913313"/>
          </a:xfrm>
          <a:prstGeom prst="rect">
            <a:avLst/>
          </a:prstGeom>
          <a:noFill/>
          <a:ln>
            <a:noFill/>
          </a:ln>
          <a:effectLst/>
        </p:spPr>
        <p:txBody>
          <a:bodyPr lIns="89993" tIns="44996" rIns="89993" bIns="44996">
            <a:spAutoFit/>
          </a:bodyPr>
          <a:lstStyle/>
          <a:p>
            <a:pPr algn="ctr">
              <a:defRPr/>
            </a:pPr>
            <a:r>
              <a:rPr lang="en-US" sz="5400" b="1" strike="noStrike" noProof="0" dirty="0">
                <a:latin typeface="Liberation Serif"/>
              </a:rPr>
              <a:t>Dale-2</a:t>
            </a:r>
            <a:endParaRPr lang="en-US" sz="5400" noProof="0" dirty="0"/>
          </a:p>
        </p:txBody>
      </p:sp>
      <p:pic>
        <p:nvPicPr>
          <p:cNvPr id="1554823868" name="Grafik 1554823867"/>
          <p:cNvPicPr/>
          <p:nvPr/>
        </p:nvPicPr>
        <p:blipFill>
          <a:blip r:embed="rId3">
            <a:alphaModFix/>
            <a:lum/>
          </a:blip>
          <a:stretch/>
        </p:blipFill>
        <p:spPr bwMode="auto">
          <a:xfrm>
            <a:off x="26186910" y="18358"/>
            <a:ext cx="3049727" cy="3534977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08962151" name="Textfeld 1508962150"/>
          <p:cNvSpPr txBox="1"/>
          <p:nvPr/>
        </p:nvSpPr>
        <p:spPr bwMode="auto">
          <a:xfrm>
            <a:off x="1671316" y="9685867"/>
            <a:ext cx="8291099" cy="7477508"/>
          </a:xfrm>
          <a:prstGeom prst="rect">
            <a:avLst/>
          </a:prstGeom>
          <a:noFill/>
          <a:ln>
            <a:noFill/>
          </a:ln>
          <a:effectLst/>
        </p:spPr>
        <p:txBody>
          <a:bodyPr lIns="89993" tIns="44996" rIns="89993" bIns="44996" anchor="ctr">
            <a:spAutoFit/>
          </a:bodyPr>
          <a:lstStyle/>
          <a:p>
            <a:pPr>
              <a:defRPr/>
            </a:pPr>
            <a:r>
              <a:rPr lang="en-US" sz="4000" b="0" i="1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 picture </a:t>
            </a:r>
            <a:r>
              <a:rPr lang="en-US" sz="4000" i="1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is worth a</a:t>
            </a:r>
            <a:r>
              <a:rPr lang="en-US" sz="4000" b="0" i="1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thousand words...</a:t>
            </a:r>
          </a:p>
          <a:p>
            <a:pPr>
              <a:defRPr/>
            </a:pPr>
            <a:endParaRPr lang="en-US" sz="4000" b="0" i="1" u="none" strike="noStrike" cap="none" spc="0" noProof="0" dirty="0">
              <a:solidFill>
                <a:srgbClr val="000000"/>
              </a:solidFill>
              <a:latin typeface="Liberation Sans"/>
              <a:ea typeface="Liberation Sans"/>
              <a:cs typeface="Liberation Sans"/>
            </a:endParaRPr>
          </a:p>
          <a:p>
            <a:pPr marL="526195" indent="-526195">
              <a:buFont typeface="Arial"/>
              <a:buChar char="•"/>
              <a:defRPr/>
            </a:pP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Study 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emergence of discrete linguistic symbols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and 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languages 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from continuous sensory input in 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interactive</a:t>
            </a:r>
            <a:r>
              <a:rPr lang="en-US" b="1" noProof="0" dirty="0"/>
              <a:t> 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communication</a:t>
            </a:r>
          </a:p>
          <a:p>
            <a:pPr marL="526195" indent="-526195">
              <a:buFont typeface="Arial"/>
              <a:buChar char="•"/>
              <a:defRPr/>
            </a:pP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Study 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constraints 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on symbol grounding in interacting neural agents</a:t>
            </a:r>
          </a:p>
          <a:p>
            <a:pPr marL="526195" indent="-526195">
              <a:buFont typeface="Arial"/>
              <a:buChar char="•"/>
              <a:defRPr/>
            </a:pP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Investigate the effects of 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structured </a:t>
            </a:r>
            <a:r>
              <a:rPr lang="en-US" sz="4000" b="1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biases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lang="en-US" sz="400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of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scene complexity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, 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discriminating features </a:t>
            </a:r>
            <a:r>
              <a:rPr lang="en-US" sz="400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present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,</a:t>
            </a:r>
            <a:r>
              <a:rPr lang="en-US" noProof="0" dirty="0"/>
              <a:t> 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and 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message space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on emergent languages</a:t>
            </a:r>
          </a:p>
        </p:txBody>
      </p:sp>
      <p:grpSp>
        <p:nvGrpSpPr>
          <p:cNvPr id="21684335" name="Gruppieren 21684334"/>
          <p:cNvGrpSpPr/>
          <p:nvPr/>
        </p:nvGrpSpPr>
        <p:grpSpPr bwMode="auto">
          <a:xfrm>
            <a:off x="10690691" y="8150201"/>
            <a:ext cx="8892707" cy="9776692"/>
            <a:chOff x="0" y="0"/>
            <a:chExt cx="8892707" cy="9776692"/>
          </a:xfrm>
        </p:grpSpPr>
        <p:sp>
          <p:nvSpPr>
            <p:cNvPr id="1765351502" name="Rechteck 1765351501"/>
            <p:cNvSpPr/>
            <p:nvPr/>
          </p:nvSpPr>
          <p:spPr bwMode="auto">
            <a:xfrm>
              <a:off x="0" y="533444"/>
              <a:ext cx="8892707" cy="9243248"/>
            </a:xfrm>
            <a:prstGeom prst="rect">
              <a:avLst/>
            </a:prstGeom>
            <a:noFill/>
            <a:ln w="12700">
              <a:solidFill>
                <a:srgbClr val="000000"/>
              </a:solidFill>
            </a:ln>
            <a:effectLst/>
          </p:spPr>
          <p:txBody>
            <a:bodyPr lIns="89992" tIns="44995" rIns="89992" bIns="44995" anchor="ctr"/>
            <a:lstStyle/>
            <a:p>
              <a:pPr>
                <a:defRPr/>
              </a:pPr>
              <a:endParaRPr lang="en-US" noProof="0"/>
            </a:p>
          </p:txBody>
        </p:sp>
        <p:sp>
          <p:nvSpPr>
            <p:cNvPr id="1606445936" name="Textfeld 1606445935"/>
            <p:cNvSpPr txBox="1"/>
            <p:nvPr/>
          </p:nvSpPr>
          <p:spPr bwMode="auto">
            <a:xfrm>
              <a:off x="172693" y="0"/>
              <a:ext cx="2076532" cy="9218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89992" tIns="44995" rIns="89992" bIns="44995">
              <a:spAutoFit/>
            </a:bodyPr>
            <a:lstStyle/>
            <a:p>
              <a:pPr>
                <a:defRPr/>
              </a:pPr>
              <a:r>
                <a:rPr lang="en-US" sz="5400" b="1" strike="noStrike" cap="small" noProof="0">
                  <a:latin typeface="Liberation Serif"/>
                </a:rPr>
                <a:t>Setup</a:t>
              </a:r>
              <a:endParaRPr lang="en-US" sz="5400" noProof="0"/>
            </a:p>
          </p:txBody>
        </p:sp>
      </p:grpSp>
      <p:grpSp>
        <p:nvGrpSpPr>
          <p:cNvPr id="184360477" name="Gruppieren 184360476"/>
          <p:cNvGrpSpPr/>
          <p:nvPr/>
        </p:nvGrpSpPr>
        <p:grpSpPr bwMode="auto">
          <a:xfrm>
            <a:off x="1432391" y="8168047"/>
            <a:ext cx="8892707" cy="9776691"/>
            <a:chOff x="0" y="0"/>
            <a:chExt cx="8892707" cy="9776691"/>
          </a:xfrm>
        </p:grpSpPr>
        <p:sp>
          <p:nvSpPr>
            <p:cNvPr id="101002424" name="Rechteck 101002423"/>
            <p:cNvSpPr/>
            <p:nvPr/>
          </p:nvSpPr>
          <p:spPr bwMode="auto">
            <a:xfrm>
              <a:off x="0" y="533443"/>
              <a:ext cx="8892707" cy="9243248"/>
            </a:xfrm>
            <a:prstGeom prst="rect">
              <a:avLst/>
            </a:prstGeom>
            <a:noFill/>
            <a:ln w="12700">
              <a:solidFill>
                <a:srgbClr val="000000"/>
              </a:solidFill>
            </a:ln>
            <a:effectLst/>
          </p:spPr>
          <p:txBody>
            <a:bodyPr lIns="89992" tIns="44995" rIns="89992" bIns="44995" anchor="ctr"/>
            <a:lstStyle/>
            <a:p>
              <a:pPr>
                <a:defRPr/>
              </a:pPr>
              <a:endParaRPr lang="en-US" noProof="0"/>
            </a:p>
          </p:txBody>
        </p:sp>
        <p:sp>
          <p:nvSpPr>
            <p:cNvPr id="1269192990" name="Textfeld 1269192989"/>
            <p:cNvSpPr txBox="1"/>
            <p:nvPr/>
          </p:nvSpPr>
          <p:spPr bwMode="auto">
            <a:xfrm>
              <a:off x="172692" y="0"/>
              <a:ext cx="1722417" cy="9133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89992" tIns="44995" rIns="89992" bIns="44995">
              <a:spAutoFit/>
            </a:bodyPr>
            <a:lstStyle/>
            <a:p>
              <a:pPr>
                <a:defRPr/>
              </a:pPr>
              <a:r>
                <a:rPr lang="en-US" sz="5400" b="1" strike="noStrike" cap="small" noProof="0" dirty="0">
                  <a:latin typeface="Liberation Serif"/>
                </a:rPr>
                <a:t>Aims</a:t>
              </a:r>
              <a:endParaRPr lang="en-US" sz="5400" noProof="0" dirty="0"/>
            </a:p>
          </p:txBody>
        </p:sp>
      </p:grpSp>
      <p:grpSp>
        <p:nvGrpSpPr>
          <p:cNvPr id="1597280520" name="Gruppieren 1597280519"/>
          <p:cNvGrpSpPr/>
          <p:nvPr/>
        </p:nvGrpSpPr>
        <p:grpSpPr bwMode="auto">
          <a:xfrm>
            <a:off x="19937514" y="8168407"/>
            <a:ext cx="8892707" cy="9776691"/>
            <a:chOff x="0" y="0"/>
            <a:chExt cx="8892707" cy="9776691"/>
          </a:xfrm>
        </p:grpSpPr>
        <p:sp>
          <p:nvSpPr>
            <p:cNvPr id="1649300553" name="Rechteck 1649300552"/>
            <p:cNvSpPr/>
            <p:nvPr/>
          </p:nvSpPr>
          <p:spPr bwMode="auto">
            <a:xfrm>
              <a:off x="0" y="533443"/>
              <a:ext cx="8892707" cy="9243248"/>
            </a:xfrm>
            <a:prstGeom prst="rect">
              <a:avLst/>
            </a:prstGeom>
            <a:noFill/>
            <a:ln w="12700">
              <a:solidFill>
                <a:srgbClr val="000000"/>
              </a:solidFill>
            </a:ln>
            <a:effectLst/>
          </p:spPr>
          <p:txBody>
            <a:bodyPr lIns="89992" tIns="44995" rIns="89992" bIns="44995" anchor="ctr"/>
            <a:lstStyle/>
            <a:p>
              <a:pPr>
                <a:defRPr/>
              </a:pPr>
              <a:endParaRPr lang="en-US" noProof="0"/>
            </a:p>
          </p:txBody>
        </p:sp>
        <p:sp>
          <p:nvSpPr>
            <p:cNvPr id="576284473" name="Textfeld 576284472"/>
            <p:cNvSpPr txBox="1"/>
            <p:nvPr/>
          </p:nvSpPr>
          <p:spPr bwMode="auto">
            <a:xfrm>
              <a:off x="172692" y="0"/>
              <a:ext cx="3019494" cy="9218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89992" tIns="44995" rIns="89992" bIns="44995">
              <a:spAutoFit/>
            </a:bodyPr>
            <a:lstStyle/>
            <a:p>
              <a:pPr>
                <a:defRPr/>
              </a:pPr>
              <a:r>
                <a:rPr lang="en-US" sz="5400" b="1" cap="small" noProof="0">
                  <a:latin typeface="Liberation Serif"/>
                </a:rPr>
                <a:t>Findings</a:t>
              </a:r>
              <a:endParaRPr lang="en-US" sz="5400" noProof="0"/>
            </a:p>
          </p:txBody>
        </p:sp>
      </p:grpSp>
      <p:pic>
        <p:nvPicPr>
          <p:cNvPr id="1531159627" name="Grafik 153115962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840818" y="9512011"/>
            <a:ext cx="8580975" cy="5910147"/>
          </a:xfrm>
          <a:prstGeom prst="rect">
            <a:avLst/>
          </a:prstGeom>
        </p:spPr>
      </p:pic>
      <p:sp>
        <p:nvSpPr>
          <p:cNvPr id="410206753" name="Textfeld 410206752"/>
          <p:cNvSpPr txBox="1"/>
          <p:nvPr/>
        </p:nvSpPr>
        <p:spPr bwMode="auto">
          <a:xfrm>
            <a:off x="20197884" y="8879842"/>
            <a:ext cx="8286419" cy="8708613"/>
          </a:xfrm>
          <a:prstGeom prst="rect">
            <a:avLst/>
          </a:prstGeom>
          <a:noFill/>
          <a:ln>
            <a:noFill/>
          </a:ln>
          <a:effectLst/>
        </p:spPr>
        <p:txBody>
          <a:bodyPr lIns="89992" tIns="44995" rIns="89992" bIns="44995" anchor="ctr">
            <a:spAutoFit/>
          </a:bodyPr>
          <a:lstStyle/>
          <a:p>
            <a:pPr marL="526194" indent="-526194">
              <a:buFont typeface="Arial"/>
              <a:buChar char="•"/>
              <a:defRPr/>
            </a:pP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Medium vocabularies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(|V| ∈ {10, 16}) and message lengths (n ∈ {2, 4}) perform best</a:t>
            </a:r>
          </a:p>
          <a:p>
            <a:pPr marL="526195" indent="-526195">
              <a:buFont typeface="Arial"/>
              <a:buChar char="•"/>
              <a:defRPr/>
            </a:pPr>
            <a:r>
              <a:rPr lang="en-US" sz="400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Emergent vocabularies </a:t>
            </a:r>
            <a:r>
              <a:rPr lang="en-US" sz="4000" b="1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align with the structured contextual biases</a:t>
            </a:r>
            <a:r>
              <a:rPr lang="en-US" sz="400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introduced</a:t>
            </a:r>
            <a:endParaRPr lang="en-US" sz="4000" b="0" i="0" u="none" strike="noStrike" cap="none" spc="0" noProof="0" dirty="0">
              <a:solidFill>
                <a:srgbClr val="000000"/>
              </a:solidFill>
              <a:latin typeface="Liberation Sans"/>
              <a:ea typeface="Liberation Sans"/>
              <a:cs typeface="Liberation Sans"/>
            </a:endParaRPr>
          </a:p>
          <a:p>
            <a:pPr marL="526195" indent="-526195">
              <a:buFont typeface="Arial"/>
              <a:buChar char="•"/>
              <a:defRPr/>
            </a:pP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Scene complexity (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number of distractors, number of features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) </a:t>
            </a:r>
            <a:r>
              <a:rPr lang="en-US" sz="400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strongly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impacts communication success</a:t>
            </a:r>
            <a:endParaRPr lang="en-US" noProof="0" dirty="0"/>
          </a:p>
          <a:p>
            <a:pPr marL="526195" indent="-526195">
              <a:buFont typeface="Arial"/>
              <a:buChar char="•"/>
              <a:defRPr/>
            </a:pP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Shape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attributes 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easiest 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to learn, 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size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attributes </a:t>
            </a: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most challenging</a:t>
            </a:r>
          </a:p>
          <a:p>
            <a:pPr marL="526195" indent="-526195">
              <a:buFont typeface="Arial"/>
              <a:buChar char="•"/>
              <a:defRPr/>
            </a:pPr>
            <a:r>
              <a:rPr lang="en-US" sz="4000" b="1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Future:</a:t>
            </a:r>
            <a:r>
              <a:rPr lang="en-US" sz="4000" b="0" i="0" u="none" strike="noStrike" cap="none" spc="0" noProof="0" dirty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Compare emergent vocabularies and languages with (different) natural languages</a:t>
            </a:r>
            <a:endParaRPr lang="en-US" sz="4000" b="0" i="0" u="none" strike="noStrike" cap="none" spc="0" noProof="0" dirty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1953644601" name="Textfeld 1953644600"/>
          <p:cNvSpPr txBox="1"/>
          <p:nvPr/>
        </p:nvSpPr>
        <p:spPr bwMode="auto">
          <a:xfrm>
            <a:off x="1337400" y="41206799"/>
            <a:ext cx="1242131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800" noProof="0" dirty="0">
                <a:latin typeface="Liberation Sans Narrow" panose="020B0606020202030204" pitchFamily="34" charset="0"/>
              </a:rPr>
              <a:t>16th International Conference on Computational Semantics (IWCS 2025)</a:t>
            </a:r>
          </a:p>
        </p:txBody>
      </p:sp>
      <p:pic>
        <p:nvPicPr>
          <p:cNvPr id="207079131" name="Grafik 20707913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25401221" y="41246206"/>
            <a:ext cx="3429000" cy="1000125"/>
          </a:xfrm>
          <a:prstGeom prst="rect">
            <a:avLst/>
          </a:prstGeom>
        </p:spPr>
      </p:pic>
      <p:sp>
        <p:nvSpPr>
          <p:cNvPr id="1464513698" name="Textfeld 1464513697"/>
          <p:cNvSpPr txBox="1"/>
          <p:nvPr/>
        </p:nvSpPr>
        <p:spPr bwMode="auto">
          <a:xfrm>
            <a:off x="14587760" y="18880199"/>
            <a:ext cx="4196399" cy="913311"/>
          </a:xfrm>
          <a:prstGeom prst="rect">
            <a:avLst/>
          </a:prstGeom>
          <a:noFill/>
          <a:ln>
            <a:noFill/>
          </a:ln>
          <a:effectLst/>
        </p:spPr>
        <p:txBody>
          <a:bodyPr lIns="89992" tIns="44995" rIns="89992" bIns="44995">
            <a:spAutoFit/>
          </a:bodyPr>
          <a:lstStyle/>
          <a:p>
            <a:pPr algn="ctr">
              <a:defRPr/>
            </a:pPr>
            <a:r>
              <a:rPr lang="en-US" sz="5400" b="1" strike="noStrike" noProof="0" dirty="0">
                <a:latin typeface="Liberation Serif"/>
              </a:rPr>
              <a:t>Dale-5</a:t>
            </a:r>
            <a:endParaRPr lang="en-US" sz="5400" noProof="0" dirty="0"/>
          </a:p>
        </p:txBody>
      </p:sp>
      <p:sp>
        <p:nvSpPr>
          <p:cNvPr id="42616494" name="Textfeld 42616493"/>
          <p:cNvSpPr txBox="1"/>
          <p:nvPr/>
        </p:nvSpPr>
        <p:spPr bwMode="auto">
          <a:xfrm>
            <a:off x="22574252" y="18884565"/>
            <a:ext cx="4461381" cy="913311"/>
          </a:xfrm>
          <a:prstGeom prst="rect">
            <a:avLst/>
          </a:prstGeom>
          <a:noFill/>
          <a:ln>
            <a:noFill/>
          </a:ln>
          <a:effectLst/>
        </p:spPr>
        <p:txBody>
          <a:bodyPr lIns="89992" tIns="44995" rIns="89992" bIns="44995">
            <a:spAutoFit/>
          </a:bodyPr>
          <a:lstStyle/>
          <a:p>
            <a:pPr algn="ctr">
              <a:defRPr/>
            </a:pPr>
            <a:r>
              <a:rPr lang="en-US" sz="5400" b="1" strike="noStrike" noProof="0" dirty="0">
                <a:latin typeface="Liberation Serif"/>
              </a:rPr>
              <a:t>CLEVR Color</a:t>
            </a:r>
            <a:endParaRPr lang="en-US" sz="5400" noProof="0" dirty="0"/>
          </a:p>
        </p:txBody>
      </p:sp>
      <p:pic>
        <p:nvPicPr>
          <p:cNvPr id="182970423" name="Grafik 182970422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20711764" y="34385736"/>
            <a:ext cx="8037683" cy="6262236"/>
          </a:xfrm>
          <a:prstGeom prst="rect">
            <a:avLst/>
          </a:prstGeom>
        </p:spPr>
      </p:pic>
      <p:pic>
        <p:nvPicPr>
          <p:cNvPr id="1399311798" name="Grafik 1399311797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4429288" y="34383778"/>
            <a:ext cx="8040197" cy="6264194"/>
          </a:xfrm>
          <a:prstGeom prst="rect">
            <a:avLst/>
          </a:prstGeom>
        </p:spPr>
      </p:pic>
      <p:pic>
        <p:nvPicPr>
          <p:cNvPr id="1109880375" name="Grafik 1109880374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12645913" y="34384992"/>
            <a:ext cx="8038638" cy="6262980"/>
          </a:xfrm>
          <a:prstGeom prst="rect">
            <a:avLst/>
          </a:prstGeom>
        </p:spPr>
      </p:pic>
      <p:graphicFrame>
        <p:nvGraphicFramePr>
          <p:cNvPr id="1863437106" name="Tabelle 186343710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5686652"/>
              </p:ext>
            </p:extLst>
          </p:nvPr>
        </p:nvGraphicFramePr>
        <p:xfrm>
          <a:off x="1560304" y="26514471"/>
          <a:ext cx="26923999" cy="6515099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2919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6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6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0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59119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de-DE" sz="3600" b="1" dirty="0" err="1">
                          <a:latin typeface="Liberation Sans Narrow" panose="020B0606020202030204" pitchFamily="34" charset="0"/>
                        </a:rPr>
                        <a:t>Strict</a:t>
                      </a:r>
                      <a:r>
                        <a:rPr lang="de-DE" sz="3600" b="1" dirty="0">
                          <a:latin typeface="Liberation Sans Narrow" panose="020B0606020202030204" pitchFamily="34" charset="0"/>
                        </a:rPr>
                        <a:t> </a:t>
                      </a:r>
                      <a:r>
                        <a:rPr lang="de-DE" sz="3600" b="1" dirty="0" err="1">
                          <a:latin typeface="Liberation Sans Narrow" panose="020B0606020202030204" pitchFamily="34" charset="0"/>
                        </a:rPr>
                        <a:t>string</a:t>
                      </a:r>
                      <a:r>
                        <a:rPr lang="de-DE" sz="3600" b="1" dirty="0">
                          <a:latin typeface="Liberation Sans Narrow" panose="020B0606020202030204" pitchFamily="34" charset="0"/>
                        </a:rPr>
                        <a:t> </a:t>
                      </a:r>
                      <a:r>
                        <a:rPr lang="de-DE" sz="3600" b="1" dirty="0" err="1">
                          <a:latin typeface="Liberation Sans Narrow" panose="020B0606020202030204" pitchFamily="34" charset="0"/>
                        </a:rPr>
                        <a:t>accuracy</a:t>
                      </a:r>
                      <a:endParaRPr sz="3600" b="1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99%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algn="ctr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69%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algn="ctr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93%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7373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de-DE" sz="3600" b="1" dirty="0">
                          <a:latin typeface="Liberation Sans Narrow" panose="020B0606020202030204" pitchFamily="34" charset="0"/>
                        </a:rPr>
                        <a:t>F1 score</a:t>
                      </a:r>
                      <a:endParaRPr sz="3600" b="1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6349" algn="ctr"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98,57%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89,53%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95,17%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algn="ctr"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2869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de-DE" sz="3600" b="1" dirty="0">
                          <a:latin typeface="Liberation Sans Narrow" panose="020B0606020202030204" pitchFamily="34" charset="0"/>
                        </a:rPr>
                        <a:t>Shape </a:t>
                      </a:r>
                    </a:p>
                    <a:p>
                      <a:pPr algn="r">
                        <a:defRPr/>
                      </a:pPr>
                      <a:r>
                        <a:rPr lang="de-DE" sz="3600" b="1" dirty="0" err="1">
                          <a:latin typeface="Liberation Sans Narrow" panose="020B0606020202030204" pitchFamily="34" charset="0"/>
                        </a:rPr>
                        <a:t>Prec</a:t>
                      </a:r>
                      <a:r>
                        <a:rPr lang="de-DE" sz="3600" b="1" dirty="0">
                          <a:latin typeface="Liberation Sans Narrow" panose="020B0606020202030204" pitchFamily="34" charset="0"/>
                        </a:rPr>
                        <a:t> / </a:t>
                      </a:r>
                      <a:r>
                        <a:rPr lang="de-DE" sz="3600" b="1" dirty="0" err="1">
                          <a:latin typeface="Liberation Sans Narrow" panose="020B0606020202030204" pitchFamily="34" charset="0"/>
                        </a:rPr>
                        <a:t>Rec</a:t>
                      </a:r>
                      <a:endParaRPr sz="3600" b="1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6349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99,75% / 99,74% 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98,30% / 98,3%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100% / 100%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2869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de-DE" sz="3600" b="1" dirty="0">
                          <a:latin typeface="Liberation Sans Narrow" panose="020B0606020202030204" pitchFamily="34" charset="0"/>
                        </a:rPr>
                        <a:t>Color</a:t>
                      </a:r>
                    </a:p>
                    <a:p>
                      <a:pPr algn="r">
                        <a:defRPr/>
                      </a:pPr>
                      <a:r>
                        <a:rPr lang="de-DE" sz="3600" b="1" dirty="0" err="1">
                          <a:latin typeface="Liberation Sans Narrow" panose="020B0606020202030204" pitchFamily="34" charset="0"/>
                        </a:rPr>
                        <a:t>Prec</a:t>
                      </a:r>
                      <a:r>
                        <a:rPr lang="de-DE" sz="3600" b="1" dirty="0">
                          <a:latin typeface="Liberation Sans Narrow" panose="020B0606020202030204" pitchFamily="34" charset="0"/>
                        </a:rPr>
                        <a:t> / </a:t>
                      </a:r>
                      <a:r>
                        <a:rPr lang="de-DE" sz="3600" b="1" dirty="0" err="1">
                          <a:latin typeface="Liberation Sans Narrow" panose="020B0606020202030204" pitchFamily="34" charset="0"/>
                        </a:rPr>
                        <a:t>Rec</a:t>
                      </a:r>
                      <a:endParaRPr sz="3600" b="1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6349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98,09% / 98,53%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92,44% / 92,95%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92,76% / 92,76%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2869">
                <a:tc>
                  <a:txBody>
                    <a:bodyPr/>
                    <a:lstStyle/>
                    <a:p>
                      <a:pPr algn="r">
                        <a:defRPr/>
                      </a:pPr>
                      <a:r>
                        <a:rPr lang="de-DE" sz="3600" b="1" dirty="0">
                          <a:latin typeface="Liberation Sans Narrow" panose="020B0606020202030204" pitchFamily="34" charset="0"/>
                        </a:rPr>
                        <a:t>Size </a:t>
                      </a:r>
                    </a:p>
                    <a:p>
                      <a:pPr algn="r">
                        <a:defRPr/>
                      </a:pPr>
                      <a:r>
                        <a:rPr lang="de-DE" sz="3600" b="1" dirty="0" err="1">
                          <a:latin typeface="Liberation Sans Narrow" panose="020B0606020202030204" pitchFamily="34" charset="0"/>
                        </a:rPr>
                        <a:t>Prec</a:t>
                      </a:r>
                      <a:r>
                        <a:rPr lang="de-DE" sz="3600" b="1" dirty="0">
                          <a:latin typeface="Liberation Sans Narrow" panose="020B0606020202030204" pitchFamily="34" charset="0"/>
                        </a:rPr>
                        <a:t> / </a:t>
                      </a:r>
                      <a:r>
                        <a:rPr lang="de-DE" sz="3600" b="1" dirty="0" err="1">
                          <a:latin typeface="Liberation Sans Narrow" panose="020B0606020202030204" pitchFamily="34" charset="0"/>
                        </a:rPr>
                        <a:t>Rec</a:t>
                      </a:r>
                      <a:endParaRPr sz="3600" b="1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6349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98,73% / 95,9%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69,43% / 64,13%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de-DE" sz="3600" dirty="0">
                          <a:latin typeface="Liberation Sans Narrow" panose="020B0606020202030204" pitchFamily="34" charset="0"/>
                        </a:rPr>
                        <a:t>N/A</a:t>
                      </a:r>
                      <a:endParaRPr sz="3600" dirty="0">
                        <a:latin typeface="Liberation Sans Narrow" panose="020B0606020202030204" pitchFamily="34" charset="0"/>
                      </a:endParaRPr>
                    </a:p>
                  </a:txBody>
                  <a:tcPr marL="90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49" algn="ctr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algn="ctr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2748204" name="Textfeld 712748203"/>
          <p:cNvSpPr txBox="1"/>
          <p:nvPr/>
        </p:nvSpPr>
        <p:spPr bwMode="auto">
          <a:xfrm>
            <a:off x="1671316" y="33461912"/>
            <a:ext cx="16345816" cy="9218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89992" tIns="44995" rIns="89992" bIns="44995">
            <a:spAutoFit/>
          </a:bodyPr>
          <a:lstStyle/>
          <a:p>
            <a:pPr>
              <a:defRPr/>
            </a:pPr>
            <a:r>
              <a:rPr lang="en-US" sz="5400" b="1" strike="noStrike" cap="small" noProof="0" dirty="0">
                <a:latin typeface="Liberation Serif"/>
              </a:rPr>
              <a:t>Sender and Receiver in Emergent Interaction</a:t>
            </a:r>
            <a:endParaRPr lang="en-US" sz="5400" noProof="0" dirty="0"/>
          </a:p>
        </p:txBody>
      </p:sp>
      <p:sp>
        <p:nvSpPr>
          <p:cNvPr id="1306445905" name="Textfeld 1306445904"/>
          <p:cNvSpPr txBox="1"/>
          <p:nvPr/>
        </p:nvSpPr>
        <p:spPr bwMode="auto">
          <a:xfrm>
            <a:off x="1671316" y="25664613"/>
            <a:ext cx="13177464" cy="9218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89992" tIns="44995" rIns="89992" bIns="44995">
            <a:spAutoFit/>
          </a:bodyPr>
          <a:lstStyle/>
          <a:p>
            <a:pPr>
              <a:defRPr/>
            </a:pPr>
            <a:r>
              <a:rPr lang="en-US" sz="5400" b="1" strike="noStrike" cap="small" noProof="0" dirty="0">
                <a:latin typeface="Liberation Serif"/>
              </a:rPr>
              <a:t>Sender in Supervised Generation (GRE)</a:t>
            </a:r>
            <a:endParaRPr lang="en-US" sz="5400" noProof="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57742EE-FC12-C551-05B9-13415C0555FD}"/>
              </a:ext>
            </a:extLst>
          </p:cNvPr>
          <p:cNvSpPr txBox="1"/>
          <p:nvPr/>
        </p:nvSpPr>
        <p:spPr>
          <a:xfrm>
            <a:off x="11025859" y="15639990"/>
            <a:ext cx="8395934" cy="19375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89993" tIns="44996" rIns="89993" bIns="44996" anchor="ctr">
            <a:spAutoFit/>
          </a:bodyPr>
          <a:lstStyle>
            <a:defPPr/>
            <a:lvl1pPr>
              <a:defRPr sz="4000" b="0" i="1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i="0" noProof="0" dirty="0"/>
              <a:t>Receiver </a:t>
            </a:r>
            <a:r>
              <a:rPr lang="en-US" b="1" i="0" noProof="0" dirty="0"/>
              <a:t>attends to region </a:t>
            </a:r>
            <a:r>
              <a:rPr lang="en-US" i="0" noProof="0" dirty="0"/>
              <a:t>in visual scene </a:t>
            </a:r>
            <a:r>
              <a:rPr lang="en-US" b="1" i="0" noProof="0" dirty="0"/>
              <a:t>based on the sender‘s message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2A79BE-22C2-1010-68C1-65BD5E86911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70084" t="9033" b="2255"/>
          <a:stretch>
            <a:fillRect/>
          </a:stretch>
        </p:blipFill>
        <p:spPr>
          <a:xfrm>
            <a:off x="20958791" y="19892162"/>
            <a:ext cx="7692301" cy="496451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D4BA39F-3847-E17D-70EA-8AE51C3BE22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5375" t="9466" r="35359" b="2660"/>
          <a:stretch>
            <a:fillRect/>
          </a:stretch>
        </p:blipFill>
        <p:spPr>
          <a:xfrm>
            <a:off x="4600113" y="19898878"/>
            <a:ext cx="7692300" cy="502980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F587104-E8F4-4D8F-ECB5-A4D7566C991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0888" t="8364" b="2546"/>
          <a:stretch>
            <a:fillRect/>
          </a:stretch>
        </p:blipFill>
        <p:spPr>
          <a:xfrm>
            <a:off x="12985435" y="19901847"/>
            <a:ext cx="7551977" cy="50298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B82B72-54F0-54AD-7EEC-8C92576EF4DE}"/>
              </a:ext>
            </a:extLst>
          </p:cNvPr>
          <p:cNvSpPr txBox="1"/>
          <p:nvPr/>
        </p:nvSpPr>
        <p:spPr>
          <a:xfrm>
            <a:off x="12985435" y="41206799"/>
            <a:ext cx="80221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800" dirty="0">
                <a:latin typeface="Liberation Sans Narrow" panose="020B0606020202030204" pitchFamily="34" charset="0"/>
              </a:rPr>
              <a:t>Supported by the Swedish Research Council Project Grant (VR 2023-01552) </a:t>
            </a:r>
            <a:r>
              <a:rPr lang="en-SE" sz="2800" b="1" dirty="0">
                <a:latin typeface="Liberation Sans Narrow" panose="020B0606020202030204" pitchFamily="34" charset="0"/>
              </a:rPr>
              <a:t>Beyond Pixels and Words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ser Theme: 2">
  <a:themeElements>
    <a:clrScheme name="User Theme: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ser Theme: 2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User Theme: 2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312</Words>
  <Application>Microsoft Macintosh PowerPoint</Application>
  <PresentationFormat>Custom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Liberation Mono</vt:lpstr>
      <vt:lpstr>Liberation Sans</vt:lpstr>
      <vt:lpstr>Liberation Sans Narrow</vt:lpstr>
      <vt:lpstr>Liberation Serif</vt:lpstr>
      <vt:lpstr>Standard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Simon Dobnik</cp:lastModifiedBy>
  <cp:revision>18</cp:revision>
  <cp:lastPrinted>2025-08-27T08:22:09Z</cp:lastPrinted>
  <dcterms:modified xsi:type="dcterms:W3CDTF">2025-08-28T10:46:29Z</dcterms:modified>
</cp:coreProperties>
</file>